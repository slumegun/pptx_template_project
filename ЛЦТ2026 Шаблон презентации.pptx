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2" r:id="rId3"/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165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365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97" userDrawn="1">
          <p15:clr>
            <a:srgbClr val="A4A3A4"/>
          </p15:clr>
        </p15:guide>
        <p15:guide id="2" pos="3591" userDrawn="1">
          <p15:clr>
            <a:srgbClr val="A4A3A4"/>
          </p15:clr>
        </p15:guide>
        <p15:guide id="3" pos="5496" userDrawn="1">
          <p15:clr>
            <a:srgbClr val="A4A3A4"/>
          </p15:clr>
        </p15:guide>
        <p15:guide id="4" pos="4144" userDrawn="1">
          <p15:clr>
            <a:srgbClr val="A4A3A4"/>
          </p15:clr>
        </p15:guide>
        <p15:guide id="5" pos="364" userDrawn="1">
          <p15:clr>
            <a:srgbClr val="A4A3A4"/>
          </p15:clr>
        </p15:guide>
        <p15:guide id="6" orient="horz" pos="222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44"/>
        <p:guide pos="364"/>
        <p:guide orient="horz" pos="2223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</a:fld>
            <a:endParaRPr lang="ru-RU"/>
          </a:p>
        </p:txBody>
      </p:sp>
      <p:sp>
        <p:nvSpPr>
          <p:cNvPr id="1008376219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  <a:p>
            <a:pPr lvl="1">
              <a:defRPr/>
            </a:pPr>
            <a:r>
              <a:rPr lang="ru-RU"/>
              <a:t>Второй уровень</a:t>
            </a:r>
            <a:endParaRPr lang="ru-RU"/>
          </a:p>
          <a:p>
            <a:pPr lvl="2">
              <a:defRPr/>
            </a:pPr>
            <a:r>
              <a:rPr lang="ru-RU"/>
              <a:t>Третий уровень</a:t>
            </a:r>
            <a:endParaRPr lang="ru-RU"/>
          </a:p>
          <a:p>
            <a:pPr lvl="3">
              <a:defRPr/>
            </a:pPr>
            <a:r>
              <a:rPr lang="ru-RU"/>
              <a:t>Четвертый уровень</a:t>
            </a:r>
            <a:endParaRPr lang="ru-RU"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B8682-549C-E1BB-F508-D1525C1FC77B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Титульный слайд">
    <p:bg>
      <p:bgPr>
        <a:blipFill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 lang="ru-RU"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3105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 lang="ru-RU"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 lang="ru-RU"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3105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 lang="ru-RU" sz="1600" b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 lang="ru-RU"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 lang="ru-RU"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780" indent="-144780">
              <a:buClr>
                <a:schemeClr val="accent1"/>
              </a:buClr>
              <a:buFont typeface="Wingdings" panose="05000000000000000000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 lang="ru-RU"/>
          </a:p>
          <a:p>
            <a:pPr lvl="0">
              <a:defRPr/>
            </a:pPr>
            <a:r>
              <a:rPr lang="en-US"/>
              <a:t>Telegram</a:t>
            </a:r>
            <a:endParaRPr lang="en-US"/>
          </a:p>
          <a:p>
            <a:pPr lvl="0">
              <a:defRPr/>
            </a:pPr>
            <a:r>
              <a:rPr lang="ru-RU"/>
              <a:t>Номер</a:t>
            </a:r>
            <a:endParaRPr lang="ru-RU"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780" indent="-144780">
              <a:buClr>
                <a:schemeClr val="accent1"/>
              </a:buClr>
              <a:buFont typeface="Wingdings" panose="05000000000000000000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 lang="ru-RU"/>
          </a:p>
          <a:p>
            <a:pPr lvl="0">
              <a:defRPr/>
            </a:pPr>
            <a:r>
              <a:rPr lang="en-US"/>
              <a:t>Telegram</a:t>
            </a:r>
            <a:endParaRPr lang="en-US"/>
          </a:p>
          <a:p>
            <a:pPr lvl="0">
              <a:defRPr/>
            </a:pPr>
            <a:r>
              <a:rPr lang="ru-RU"/>
              <a:t>Номер</a:t>
            </a:r>
            <a:endParaRPr lang="ru-RU"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780" indent="-144780">
              <a:buClr>
                <a:schemeClr val="accent1"/>
              </a:buClr>
              <a:buFont typeface="Wingdings" panose="05000000000000000000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 lang="ru-RU"/>
          </a:p>
          <a:p>
            <a:pPr lvl="0">
              <a:defRPr/>
            </a:pPr>
            <a:r>
              <a:rPr lang="en-US"/>
              <a:t>Telegram</a:t>
            </a:r>
            <a:endParaRPr lang="en-US"/>
          </a:p>
          <a:p>
            <a:pPr lvl="0">
              <a:defRPr/>
            </a:pPr>
            <a:r>
              <a:rPr lang="ru-RU"/>
              <a:t>Номер</a:t>
            </a:r>
            <a:endParaRPr lang="ru-RU"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780" indent="-144780">
              <a:buClr>
                <a:schemeClr val="accent1"/>
              </a:buClr>
              <a:buFont typeface="Wingdings" panose="05000000000000000000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 lang="ru-RU"/>
          </a:p>
          <a:p>
            <a:pPr lvl="0">
              <a:defRPr/>
            </a:pPr>
            <a:r>
              <a:rPr lang="en-US"/>
              <a:t>Telegram</a:t>
            </a:r>
            <a:endParaRPr lang="en-US"/>
          </a:p>
          <a:p>
            <a:pPr lvl="0">
              <a:defRPr/>
            </a:pPr>
            <a:r>
              <a:rPr lang="ru-RU"/>
              <a:t>Номер</a:t>
            </a:r>
            <a:endParaRPr lang="ru-RU"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780" indent="-144780">
              <a:buClr>
                <a:schemeClr val="accent1"/>
              </a:buClr>
              <a:buFont typeface="Wingdings" panose="05000000000000000000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 lang="ru-RU"/>
          </a:p>
          <a:p>
            <a:pPr lvl="0">
              <a:defRPr/>
            </a:pPr>
            <a:r>
              <a:rPr lang="en-US"/>
              <a:t>Telegram</a:t>
            </a:r>
            <a:endParaRPr lang="en-US"/>
          </a:p>
          <a:p>
            <a:pPr lvl="0">
              <a:defRPr/>
            </a:pPr>
            <a:r>
              <a:rPr lang="ru-RU"/>
              <a:t>Номер</a:t>
            </a: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  <a:p>
            <a:pPr lvl="1">
              <a:defRPr/>
            </a:pPr>
            <a:r>
              <a:rPr lang="ru-RU"/>
              <a:t>Второй уровень</a:t>
            </a:r>
            <a:endParaRPr lang="ru-RU"/>
          </a:p>
          <a:p>
            <a:pPr lvl="2">
              <a:defRPr/>
            </a:pPr>
            <a:r>
              <a:rPr lang="ru-RU"/>
              <a:t>Третий уровень</a:t>
            </a:r>
            <a:endParaRPr lang="ru-RU"/>
          </a:p>
          <a:p>
            <a:pPr lvl="3">
              <a:defRPr/>
            </a:pPr>
            <a:r>
              <a:rPr lang="ru-RU"/>
              <a:t>Четвертый уровень</a:t>
            </a:r>
            <a:endParaRPr lang="ru-RU"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  <a:p>
            <a:pPr lvl="1">
              <a:defRPr/>
            </a:pPr>
            <a:r>
              <a:rPr lang="ru-RU"/>
              <a:t>Второй уровень</a:t>
            </a:r>
            <a:endParaRPr lang="ru-RU"/>
          </a:p>
          <a:p>
            <a:pPr lvl="2">
              <a:defRPr/>
            </a:pPr>
            <a:r>
              <a:rPr lang="ru-RU"/>
              <a:t>Третий уровень</a:t>
            </a:r>
            <a:endParaRPr lang="ru-RU"/>
          </a:p>
          <a:p>
            <a:pPr lvl="3">
              <a:defRPr/>
            </a:pPr>
            <a:r>
              <a:rPr lang="ru-RU"/>
              <a:t>Четвертый уровень</a:t>
            </a:r>
            <a:endParaRPr lang="ru-RU"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  <a:p>
            <a:pPr lvl="1">
              <a:defRPr/>
            </a:pPr>
            <a:r>
              <a:rPr lang="ru-RU"/>
              <a:t>Второй уровень</a:t>
            </a:r>
            <a:endParaRPr lang="ru-RU"/>
          </a:p>
          <a:p>
            <a:pPr lvl="2">
              <a:defRPr/>
            </a:pPr>
            <a:r>
              <a:rPr lang="ru-RU"/>
              <a:t>Третий уровень</a:t>
            </a:r>
            <a:endParaRPr lang="ru-RU"/>
          </a:p>
          <a:p>
            <a:pPr lvl="3">
              <a:defRPr/>
            </a:pPr>
            <a:r>
              <a:rPr lang="ru-RU"/>
              <a:t>Четвертый уровень</a:t>
            </a:r>
            <a:endParaRPr lang="ru-RU"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560" indent="0">
              <a:buNone/>
              <a:defRPr sz="1250" b="1"/>
            </a:lvl2pPr>
            <a:lvl3pPr marL="578485" indent="0">
              <a:buNone/>
              <a:defRPr sz="1150" b="1"/>
            </a:lvl3pPr>
            <a:lvl4pPr marL="868045" indent="0">
              <a:buNone/>
              <a:defRPr sz="1000" b="1"/>
            </a:lvl4pPr>
            <a:lvl5pPr marL="1157605" indent="0">
              <a:buNone/>
              <a:defRPr sz="1000" b="1"/>
            </a:lvl5pPr>
            <a:lvl6pPr marL="1447165" indent="0">
              <a:buNone/>
              <a:defRPr sz="1000" b="1"/>
            </a:lvl6pPr>
            <a:lvl7pPr marL="1736090" indent="0">
              <a:buNone/>
              <a:defRPr sz="1000" b="1"/>
            </a:lvl7pPr>
            <a:lvl8pPr marL="2025650" indent="0">
              <a:buNone/>
              <a:defRPr sz="1000" b="1"/>
            </a:lvl8pPr>
            <a:lvl9pPr marL="2315210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  <a:p>
            <a:pPr lvl="1">
              <a:defRPr/>
            </a:pPr>
            <a:r>
              <a:rPr lang="ru-RU"/>
              <a:t>Второй уровень</a:t>
            </a:r>
            <a:endParaRPr lang="ru-RU"/>
          </a:p>
          <a:p>
            <a:pPr lvl="2">
              <a:defRPr/>
            </a:pPr>
            <a:r>
              <a:rPr lang="ru-RU"/>
              <a:t>Третий уровень</a:t>
            </a:r>
            <a:endParaRPr lang="ru-RU"/>
          </a:p>
          <a:p>
            <a:pPr lvl="3">
              <a:defRPr/>
            </a:pPr>
            <a:r>
              <a:rPr lang="ru-RU"/>
              <a:t>Четвертый уровень</a:t>
            </a:r>
            <a:endParaRPr lang="ru-RU"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560" indent="0">
              <a:buNone/>
              <a:defRPr sz="1250" b="1"/>
            </a:lvl2pPr>
            <a:lvl3pPr marL="578485" indent="0">
              <a:buNone/>
              <a:defRPr sz="1150" b="1"/>
            </a:lvl3pPr>
            <a:lvl4pPr marL="868045" indent="0">
              <a:buNone/>
              <a:defRPr sz="1000" b="1"/>
            </a:lvl4pPr>
            <a:lvl5pPr marL="1157605" indent="0">
              <a:buNone/>
              <a:defRPr sz="1000" b="1"/>
            </a:lvl5pPr>
            <a:lvl6pPr marL="1447165" indent="0">
              <a:buNone/>
              <a:defRPr sz="1000" b="1"/>
            </a:lvl6pPr>
            <a:lvl7pPr marL="1736090" indent="0">
              <a:buNone/>
              <a:defRPr sz="1000" b="1"/>
            </a:lvl7pPr>
            <a:lvl8pPr marL="2025650" indent="0">
              <a:buNone/>
              <a:defRPr sz="1000" b="1"/>
            </a:lvl8pPr>
            <a:lvl9pPr marL="2315210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  <a:p>
            <a:pPr lvl="1">
              <a:defRPr/>
            </a:pPr>
            <a:r>
              <a:rPr lang="ru-RU"/>
              <a:t>Второй уровень</a:t>
            </a:r>
            <a:endParaRPr lang="ru-RU"/>
          </a:p>
          <a:p>
            <a:pPr lvl="2">
              <a:defRPr/>
            </a:pPr>
            <a:r>
              <a:rPr lang="ru-RU"/>
              <a:t>Третий уровень</a:t>
            </a:r>
            <a:endParaRPr lang="ru-RU"/>
          </a:p>
          <a:p>
            <a:pPr lvl="3">
              <a:defRPr/>
            </a:pPr>
            <a:r>
              <a:rPr lang="ru-RU"/>
              <a:t>Четвертый уровень</a:t>
            </a:r>
            <a:endParaRPr lang="ru-RU"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PhAnim="0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PhAnim="0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  <a:p>
            <a:pPr lvl="1">
              <a:defRPr/>
            </a:pPr>
            <a:r>
              <a:rPr lang="ru-RU"/>
              <a:t>Второй уровень</a:t>
            </a:r>
            <a:endParaRPr lang="ru-RU"/>
          </a:p>
          <a:p>
            <a:pPr lvl="2">
              <a:defRPr/>
            </a:pPr>
            <a:r>
              <a:rPr lang="ru-RU"/>
              <a:t>Третий уровень</a:t>
            </a:r>
            <a:endParaRPr lang="ru-RU"/>
          </a:p>
          <a:p>
            <a:pPr lvl="3">
              <a:defRPr/>
            </a:pPr>
            <a:r>
              <a:rPr lang="ru-RU"/>
              <a:t>Четвертый уровень</a:t>
            </a:r>
            <a:endParaRPr lang="ru-RU"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560" indent="0">
              <a:buNone/>
              <a:defRPr sz="900"/>
            </a:lvl2pPr>
            <a:lvl3pPr marL="578485" indent="0">
              <a:buNone/>
              <a:defRPr sz="750"/>
            </a:lvl3pPr>
            <a:lvl4pPr marL="868045" indent="0">
              <a:buNone/>
              <a:defRPr sz="650"/>
            </a:lvl4pPr>
            <a:lvl5pPr marL="1157605" indent="0">
              <a:buNone/>
              <a:defRPr sz="650"/>
            </a:lvl5pPr>
            <a:lvl6pPr marL="1447165" indent="0">
              <a:buNone/>
              <a:defRPr sz="650"/>
            </a:lvl6pPr>
            <a:lvl7pPr marL="1736090" indent="0">
              <a:buNone/>
              <a:defRPr sz="650"/>
            </a:lvl7pPr>
            <a:lvl8pPr marL="2025650" indent="0">
              <a:buNone/>
              <a:defRPr sz="650"/>
            </a:lvl8pPr>
            <a:lvl9pPr marL="2315210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 lang="ru-RU"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 lang="ru-RU"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 lang="ru-RU"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 lang="ru-RU"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 lang="ru-RU"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 lang="ru-RU"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 lang="ru-RU"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 lang="ru-RU"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 lang="ru-RU"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 lang="ru-RU"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 lang="ru-RU"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 lang="ru-RU"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 lang="ru-RU"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 lang="ru-RU"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 lang="ru-RU"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 lang="ru-RU"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 lang="ru-RU"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ru-RU"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74155163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 lang="ru-RU"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 lang="ru-RU"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 lang="ru-RU"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 lang="ru-RU"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 lang="ru-RU"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  <a:p>
            <a:pPr lvl="1">
              <a:defRPr/>
            </a:pPr>
            <a:r>
              <a:rPr lang="ru-RU"/>
              <a:t>Второй уровень</a:t>
            </a:r>
            <a:endParaRPr lang="ru-RU"/>
          </a:p>
          <a:p>
            <a:pPr lvl="2">
              <a:defRPr/>
            </a:pPr>
            <a:r>
              <a:rPr lang="ru-RU"/>
              <a:t>Третий уровень</a:t>
            </a:r>
            <a:endParaRPr lang="ru-RU"/>
          </a:p>
          <a:p>
            <a:pPr lvl="3">
              <a:defRPr/>
            </a:pPr>
            <a:r>
              <a:rPr lang="ru-RU"/>
              <a:t>Четвертый уровень</a:t>
            </a:r>
            <a:endParaRPr lang="ru-RU"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  <a:p>
            <a:pPr lvl="1">
              <a:defRPr/>
            </a:pPr>
            <a:r>
              <a:rPr lang="ru-RU"/>
              <a:t>Второй уровень</a:t>
            </a:r>
            <a:endParaRPr lang="ru-RU"/>
          </a:p>
          <a:p>
            <a:pPr lvl="2">
              <a:defRPr/>
            </a:pPr>
            <a:r>
              <a:rPr lang="ru-RU"/>
              <a:t>Третий уровень</a:t>
            </a:r>
            <a:endParaRPr lang="ru-RU"/>
          </a:p>
          <a:p>
            <a:pPr lvl="3">
              <a:defRPr/>
            </a:pPr>
            <a:r>
              <a:rPr lang="ru-RU"/>
              <a:t>Четвертый уровень</a:t>
            </a:r>
            <a:endParaRPr lang="ru-RU"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  <a:p>
            <a:pPr lvl="1">
              <a:defRPr/>
            </a:pPr>
            <a:r>
              <a:rPr lang="ru-RU"/>
              <a:t>Второй уровень</a:t>
            </a:r>
            <a:endParaRPr lang="ru-RU"/>
          </a:p>
          <a:p>
            <a:pPr lvl="2">
              <a:defRPr/>
            </a:pPr>
            <a:r>
              <a:rPr lang="ru-RU"/>
              <a:t>Третий уровень</a:t>
            </a:r>
            <a:endParaRPr lang="ru-RU"/>
          </a:p>
          <a:p>
            <a:pPr lvl="3">
              <a:defRPr/>
            </a:pPr>
            <a:r>
              <a:rPr lang="ru-RU"/>
              <a:t>Четвертый уровень</a:t>
            </a:r>
            <a:endParaRPr lang="ru-RU"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  <a:p>
            <a:pPr lvl="1">
              <a:defRPr/>
            </a:pPr>
            <a:r>
              <a:rPr lang="ru-RU"/>
              <a:t>Второй уровень</a:t>
            </a:r>
            <a:endParaRPr lang="ru-RU"/>
          </a:p>
          <a:p>
            <a:pPr lvl="2">
              <a:defRPr/>
            </a:pPr>
            <a:r>
              <a:rPr lang="ru-RU"/>
              <a:t>Третий уровень</a:t>
            </a:r>
            <a:endParaRPr lang="ru-RU"/>
          </a:p>
          <a:p>
            <a:pPr lvl="3">
              <a:defRPr/>
            </a:pPr>
            <a:r>
              <a:rPr lang="ru-RU"/>
              <a:t>Четвертый уровень</a:t>
            </a:r>
            <a:endParaRPr lang="ru-RU"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  <a:p>
            <a:pPr lvl="1">
              <a:defRPr/>
            </a:pPr>
            <a:r>
              <a:rPr lang="ru-RU"/>
              <a:t>Второй уровень</a:t>
            </a:r>
            <a:endParaRPr lang="ru-RU"/>
          </a:p>
          <a:p>
            <a:pPr lvl="2">
              <a:defRPr/>
            </a:pPr>
            <a:r>
              <a:rPr lang="ru-RU"/>
              <a:t>Третий уровень</a:t>
            </a:r>
            <a:endParaRPr lang="ru-RU"/>
          </a:p>
          <a:p>
            <a:pPr lvl="3">
              <a:defRPr/>
            </a:pPr>
            <a:r>
              <a:rPr lang="ru-RU"/>
              <a:t>Четвертый уровень</a:t>
            </a:r>
            <a:endParaRPr lang="ru-RU"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  <a:p>
            <a:pPr lvl="1">
              <a:defRPr/>
            </a:pPr>
            <a:r>
              <a:rPr lang="ru-RU"/>
              <a:t>Второй уровень</a:t>
            </a:r>
            <a:endParaRPr lang="ru-RU"/>
          </a:p>
          <a:p>
            <a:pPr lvl="2">
              <a:defRPr/>
            </a:pPr>
            <a:r>
              <a:rPr lang="ru-RU"/>
              <a:t>Третий уровень</a:t>
            </a:r>
            <a:endParaRPr lang="ru-RU"/>
          </a:p>
          <a:p>
            <a:pPr lvl="3">
              <a:defRPr/>
            </a:pPr>
            <a:r>
              <a:rPr lang="ru-RU"/>
              <a:t>Четвертый уровень</a:t>
            </a:r>
            <a:endParaRPr lang="ru-RU"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  <a:p>
            <a:pPr lvl="1">
              <a:defRPr/>
            </a:pPr>
            <a:r>
              <a:rPr lang="ru-RU"/>
              <a:t>Второй уровень</a:t>
            </a:r>
            <a:endParaRPr lang="ru-RU"/>
          </a:p>
          <a:p>
            <a:pPr lvl="2">
              <a:defRPr/>
            </a:pPr>
            <a:r>
              <a:rPr lang="ru-RU"/>
              <a:t>Третий уровень</a:t>
            </a:r>
            <a:endParaRPr lang="ru-RU"/>
          </a:p>
          <a:p>
            <a:pPr lvl="3">
              <a:defRPr/>
            </a:pPr>
            <a:r>
              <a:rPr lang="ru-RU"/>
              <a:t>Четвертый уровень</a:t>
            </a:r>
            <a:endParaRPr lang="ru-RU"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  <a:p>
            <a:pPr lvl="1">
              <a:defRPr/>
            </a:pPr>
            <a:r>
              <a:rPr lang="ru-RU"/>
              <a:t>Второй уровень</a:t>
            </a:r>
            <a:endParaRPr lang="ru-RU"/>
          </a:p>
          <a:p>
            <a:pPr lvl="2">
              <a:defRPr/>
            </a:pPr>
            <a:r>
              <a:rPr lang="ru-RU"/>
              <a:t>Третий уровень</a:t>
            </a:r>
            <a:endParaRPr lang="ru-RU"/>
          </a:p>
          <a:p>
            <a:pPr lvl="3">
              <a:defRPr/>
            </a:pPr>
            <a:r>
              <a:rPr lang="ru-RU"/>
              <a:t>Четвертый уровень</a:t>
            </a:r>
            <a:endParaRPr lang="ru-RU"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  <a:p>
            <a:pPr lvl="1">
              <a:defRPr/>
            </a:pPr>
            <a:r>
              <a:rPr lang="ru-RU"/>
              <a:t>Второй уровень</a:t>
            </a:r>
            <a:endParaRPr lang="ru-RU"/>
          </a:p>
          <a:p>
            <a:pPr lvl="2">
              <a:defRPr/>
            </a:pPr>
            <a:r>
              <a:rPr lang="ru-RU"/>
              <a:t>Третий уровень</a:t>
            </a:r>
            <a:endParaRPr lang="ru-RU"/>
          </a:p>
          <a:p>
            <a:pPr lvl="3">
              <a:defRPr/>
            </a:pPr>
            <a:r>
              <a:rPr lang="ru-RU"/>
              <a:t>Четвертый уровень</a:t>
            </a:r>
            <a:endParaRPr lang="ru-RU"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image" Target="../media/image2.png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4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  <a:p>
            <a:pPr lvl="1">
              <a:defRPr/>
            </a:pPr>
            <a:r>
              <a:rPr lang="ru-RU"/>
              <a:t>Второй уровень</a:t>
            </a:r>
            <a:endParaRPr lang="ru-RU"/>
          </a:p>
          <a:p>
            <a:pPr lvl="2">
              <a:defRPr/>
            </a:pPr>
            <a:r>
              <a:rPr lang="ru-RU"/>
              <a:t>Третий уровень</a:t>
            </a:r>
            <a:endParaRPr lang="ru-RU"/>
          </a:p>
          <a:p>
            <a:pPr lvl="3">
              <a:defRPr/>
            </a:pPr>
            <a:r>
              <a:rPr lang="ru-RU"/>
              <a:t>Четвертый уровень</a:t>
            </a:r>
            <a:endParaRPr lang="ru-RU"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48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780" indent="-144780" algn="l" defTabSz="578485" rtl="0">
        <a:lnSpc>
          <a:spcPct val="90000"/>
        </a:lnSpc>
        <a:spcBef>
          <a:spcPts val="630"/>
        </a:spcBef>
        <a:buFont typeface="Arial" panose="020B0604020202020204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340" indent="-144780" algn="l" defTabSz="578485" rtl="0">
        <a:lnSpc>
          <a:spcPct val="90000"/>
        </a:lnSpc>
        <a:spcBef>
          <a:spcPts val="315"/>
        </a:spcBef>
        <a:buFont typeface="Arial" panose="020B0604020202020204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265" indent="-144780" algn="l" defTabSz="578485" rtl="0">
        <a:lnSpc>
          <a:spcPct val="90000"/>
        </a:lnSpc>
        <a:spcBef>
          <a:spcPts val="315"/>
        </a:spcBef>
        <a:buFont typeface="Arial" panose="020B0604020202020204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5" indent="-144780" algn="l" defTabSz="578485" rtl="0">
        <a:lnSpc>
          <a:spcPct val="90000"/>
        </a:lnSpc>
        <a:spcBef>
          <a:spcPts val="315"/>
        </a:spcBef>
        <a:buFont typeface="Arial" panose="020B0604020202020204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385" indent="-144780" algn="l" defTabSz="578485" rtl="0">
        <a:lnSpc>
          <a:spcPct val="90000"/>
        </a:lnSpc>
        <a:spcBef>
          <a:spcPts val="315"/>
        </a:spcBef>
        <a:buFont typeface="Arial" panose="020B0604020202020204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310" indent="-144780" algn="l" defTabSz="578485" rtl="0">
        <a:lnSpc>
          <a:spcPct val="90000"/>
        </a:lnSpc>
        <a:spcBef>
          <a:spcPts val="315"/>
        </a:spcBef>
        <a:buFont typeface="Arial" panose="020B0604020202020204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870" indent="-144780" algn="l" defTabSz="578485" rtl="0">
        <a:lnSpc>
          <a:spcPct val="90000"/>
        </a:lnSpc>
        <a:spcBef>
          <a:spcPts val="315"/>
        </a:spcBef>
        <a:buFont typeface="Arial" panose="020B0604020202020204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430" indent="-144780" algn="l" defTabSz="578485" rtl="0">
        <a:lnSpc>
          <a:spcPct val="90000"/>
        </a:lnSpc>
        <a:spcBef>
          <a:spcPts val="315"/>
        </a:spcBef>
        <a:buFont typeface="Arial" panose="020B0604020202020204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990" indent="-144780" algn="l" defTabSz="578485" rtl="0">
        <a:lnSpc>
          <a:spcPct val="90000"/>
        </a:lnSpc>
        <a:spcBef>
          <a:spcPts val="315"/>
        </a:spcBef>
        <a:buFont typeface="Arial" panose="020B0604020202020204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48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560" algn="l" defTabSz="57848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485" algn="l" defTabSz="57848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045" algn="l" defTabSz="57848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605" algn="l" defTabSz="57848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7165" algn="l" defTabSz="57848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090" algn="l" defTabSz="57848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50" algn="l" defTabSz="57848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210" algn="l" defTabSz="57848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605" indent="0">
              <a:defRPr/>
            </a:pPr>
            <a:r>
              <a:rPr lang="ru-RU" sz="4800"/>
              <a:t>Катбуст Технолоджис</a:t>
            </a:r>
            <a:endParaRPr lang="ru-RU" sz="4800"/>
          </a:p>
        </p:txBody>
      </p:sp>
      <p:sp>
        <p:nvSpPr>
          <p:cNvPr id="1636791008" name="Рисунок 3"/>
          <p:cNvSpPr>
            <a:spLocks noGrp="1"/>
          </p:cNvSpPr>
          <p:nvPr>
            <p:ph type="pic" sz="quarter" idx="11"/>
          </p:nvPr>
        </p:nvSpPr>
        <p:spPr bwMode="auto">
          <a:xfrm>
            <a:off x="305186" y="329801"/>
            <a:ext cx="5193299" cy="1082589"/>
          </a:xfrm>
        </p:spPr>
      </p:sp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pPr indent="268605">
              <a:defRPr/>
            </a:pPr>
            <a:r>
              <a:rPr lang="ru-RU"/>
              <a:t>4 </a:t>
            </a:r>
            <a:r>
              <a:rPr lang="en-US" altLang="ru-RU"/>
              <a:t>VK Tech</a:t>
            </a:r>
            <a:endParaRPr lang="en-US" altLang="ru-RU"/>
          </a:p>
        </p:txBody>
      </p:sp>
      <p:sp>
        <p:nvSpPr>
          <p:cNvPr id="1091804844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1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1609484257" name="Рисунок 1"/>
          <p:cNvSpPr>
            <a:spLocks noGrp="1"/>
          </p:cNvSpPr>
          <p:nvPr>
            <p:ph type="pic" sz="quarter" idx="10"/>
          </p:nvPr>
        </p:nvSpPr>
        <p:spPr bwMode="auto">
          <a:xfrm>
            <a:off x="0" y="335267"/>
            <a:ext cx="6456363" cy="2971784"/>
          </a:xfrm>
        </p:spPr>
      </p:sp>
      <p:sp>
        <p:nvSpPr>
          <p:cNvPr id="114360025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 lang="ru-RU" sz="1600" b="1">
              <a:solidFill>
                <a:schemeClr val="accent5"/>
              </a:solidFill>
            </a:endParaRPr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6723380" y="4817745"/>
            <a:ext cx="5249545" cy="204978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anose="05000000000000000000"/>
              <a:buNone/>
              <a:defRPr/>
            </a:pPr>
            <a:r>
              <a:rPr lang="en-US" altLang="en-US">
                <a:solidFill>
                  <a:schemeClr val="tx1"/>
                </a:solidFill>
              </a:rPr>
              <a:t>Главная особенность проекта в том, что мы не создаем презентацию с нуля, а сначала понимаем структуру конкретного корпоративного шаблона и затем генерируем контент непосредственно под его реальные макеты. Дополнительно мы используем несколько </a:t>
            </a:r>
            <a:r>
              <a:rPr lang="en-US" altLang="ru-RU">
                <a:solidFill>
                  <a:schemeClr val="tx1"/>
                </a:solidFill>
              </a:rPr>
              <a:t>AI-</a:t>
            </a:r>
            <a:r>
              <a:rPr lang="en-US" altLang="en-US">
                <a:solidFill>
                  <a:schemeClr val="tx1"/>
                </a:solidFill>
              </a:rPr>
              <a:t>критиков и программные проверки, поэтому контролируем одновременно содержание, соответствие заданию и визуальное качество результата.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Капитан: </a:t>
            </a:r>
            <a:r>
              <a:rPr lang="ru-RU">
                <a:solidFill>
                  <a:schemeClr val="tx1"/>
                </a:solidFill>
              </a:rPr>
              <a:t>Максим Буравкин</a:t>
            </a:r>
            <a:endParaRPr lang="ru-RU">
              <a:solidFill>
                <a:schemeClr val="tx1"/>
              </a:solidFill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Кол-во участников: 2</a:t>
            </a:r>
            <a:endParaRPr lang="ru-RU">
              <a:solidFill>
                <a:schemeClr val="tx1"/>
              </a:solidFill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Краткое описание: </a:t>
            </a:r>
            <a:endParaRPr lang="ru-RU" b="1">
              <a:solidFill>
                <a:schemeClr val="tx1"/>
              </a:solidFill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>
                <a:solidFill>
                  <a:schemeClr val="tx1"/>
                </a:solidFill>
              </a:rPr>
              <a:t>два трудолюбивых парня</a:t>
            </a:r>
            <a:endParaRPr lang="ru-RU" i="1">
              <a:solidFill>
                <a:schemeClr val="tx1"/>
              </a:solidFill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Город и регион: Санкт-Петербург и Самара</a:t>
            </a: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 lang="ru-RU" sz="1600" b="1">
              <a:solidFill>
                <a:schemeClr val="accent5"/>
              </a:solidFill>
            </a:endParaRPr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rPr lang="ru-RU" sz="2400">
                <a:solidFill>
                  <a:schemeClr val="accent5"/>
                </a:solidFill>
                <a:latin typeface="Montserrat"/>
              </a:rPr>
              <a:t>Катбуст Технолоджис</a:t>
            </a:r>
            <a:endParaRPr lang="ru-RU" sz="2400">
              <a:solidFill>
                <a:schemeClr val="accent5"/>
              </a:solidFill>
              <a:latin typeface="Montserrat"/>
            </a:endParaRPr>
          </a:p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 lang="ru-RU" sz="1600" b="1">
              <a:solidFill>
                <a:schemeClr val="accent5"/>
              </a:solidFill>
            </a:endParaRPr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6723380" y="2620010"/>
            <a:ext cx="5210810" cy="181800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144780" indent="-144780" algn="l" defTabSz="578485" rtl="0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anose="05000000000000000000"/>
              <a:buNone/>
              <a:defRPr/>
            </a:pPr>
            <a:r>
              <a:rPr lang="en-US" altLang="en-US">
                <a:solidFill>
                  <a:schemeClr val="tx1"/>
                </a:solidFill>
              </a:rPr>
              <a:t>Наше решение — сервис «Лукас», который принимает корпоративный </a:t>
            </a:r>
            <a:r>
              <a:rPr lang="en-US" altLang="ru-RU">
                <a:solidFill>
                  <a:schemeClr val="tx1"/>
                </a:solidFill>
              </a:rPr>
              <a:t>PPTX-</a:t>
            </a:r>
            <a:r>
              <a:rPr lang="en-US" altLang="en-US">
                <a:solidFill>
                  <a:schemeClr val="tx1"/>
                </a:solidFill>
              </a:rPr>
              <a:t>шаблон и описание нужной презентации, после чего автоматически создает три готовых варианта презентации в </a:t>
            </a:r>
            <a:r>
              <a:rPr lang="en-US" altLang="ru-RU">
                <a:solidFill>
                  <a:schemeClr val="tx1"/>
                </a:solidFill>
              </a:rPr>
              <a:t>PPTX, PDF </a:t>
            </a:r>
            <a:r>
              <a:rPr lang="en-US" altLang="en-US">
                <a:solidFill>
                  <a:schemeClr val="tx1"/>
                </a:solidFill>
              </a:rPr>
              <a:t>и </a:t>
            </a:r>
            <a:r>
              <a:rPr lang="en-US" altLang="ru-RU">
                <a:solidFill>
                  <a:schemeClr val="tx1"/>
                </a:solidFill>
              </a:rPr>
              <a:t>HTML. </a:t>
            </a:r>
            <a:r>
              <a:rPr lang="en-US" altLang="en-US">
                <a:solidFill>
                  <a:schemeClr val="tx1"/>
                </a:solidFill>
              </a:rPr>
              <a:t>Система сохраняет фирменный дизайн исходного шаблона — шрифты, цвета, сетку и логотипы — а текст, графики и структуру генерирует автоматически.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165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65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1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45992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0223453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 panose="020B0604020202020204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программист</a:t>
            </a:r>
            <a:endParaRPr lang="ru-RU" sz="120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Font typeface="Arial" panose="020B0604020202020204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 lang="ru-RU" sz="120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Font typeface="Arial" panose="020B0604020202020204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 lang="ru-RU" sz="120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Font typeface="Arial" panose="020B0604020202020204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школа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259743807" name="Текст 8"/>
          <p:cNvSpPr txBox="1"/>
          <p:nvPr/>
        </p:nvSpPr>
        <p:spPr bwMode="auto"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Максим Фамилия</a:t>
            </a:r>
            <a:endParaRPr lang="ru-RU" sz="1600" b="1">
              <a:solidFill>
                <a:schemeClr val="accent5"/>
              </a:solidFill>
            </a:endParaRPr>
          </a:p>
        </p:txBody>
      </p:sp>
      <p:sp>
        <p:nvSpPr>
          <p:cNvPr id="1717745144" name="Скругленный прямоугольник 58"/>
          <p:cNvSpPr/>
          <p:nvPr/>
        </p:nvSpPr>
        <p:spPr bwMode="auto">
          <a:xfrm>
            <a:off x="4956712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67261468" name="Текст 8"/>
          <p:cNvSpPr txBox="1"/>
          <p:nvPr/>
        </p:nvSpPr>
        <p:spPr bwMode="auto"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 panose="020B0604020202020204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 lang="ru-RU" sz="120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Font typeface="Arial" panose="020B0604020202020204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 lang="ru-RU" sz="120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Font typeface="Arial" panose="020B0604020202020204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 lang="ru-RU" sz="120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Font typeface="Arial" panose="020B0604020202020204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89313918" name="Текст 8"/>
          <p:cNvSpPr txBox="1"/>
          <p:nvPr/>
        </p:nvSpPr>
        <p:spPr bwMode="auto"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Имя Фамилия</a:t>
            </a:r>
            <a:endParaRPr lang="ru-RU" sz="1600" b="1">
              <a:solidFill>
                <a:schemeClr val="accent5"/>
              </a:solidFill>
            </a:endParaRPr>
          </a:p>
        </p:txBody>
      </p:sp>
      <p:sp>
        <p:nvSpPr>
          <p:cNvPr id="651037677" name="Скругленный прямоугольник 61"/>
          <p:cNvSpPr/>
          <p:nvPr/>
        </p:nvSpPr>
        <p:spPr bwMode="auto">
          <a:xfrm>
            <a:off x="7262031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99875170" name="Текст 8"/>
          <p:cNvSpPr txBox="1"/>
          <p:nvPr/>
        </p:nvSpPr>
        <p:spPr bwMode="auto"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 panose="020B0604020202020204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 lang="ru-RU" sz="120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Font typeface="Arial" panose="020B0604020202020204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 lang="ru-RU" sz="120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Font typeface="Arial" panose="020B0604020202020204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 lang="ru-RU" sz="120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Font typeface="Arial" panose="020B0604020202020204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54387886" name="Текст 8"/>
          <p:cNvSpPr txBox="1"/>
          <p:nvPr/>
        </p:nvSpPr>
        <p:spPr bwMode="auto"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Имя Фамилия</a:t>
            </a:r>
            <a:endParaRPr lang="ru-RU" sz="1600" b="1">
              <a:solidFill>
                <a:schemeClr val="accent5"/>
              </a:solidFill>
            </a:endParaRPr>
          </a:p>
        </p:txBody>
      </p:sp>
      <p:sp>
        <p:nvSpPr>
          <p:cNvPr id="2086725175" name="Скругленный прямоугольник 64"/>
          <p:cNvSpPr/>
          <p:nvPr/>
        </p:nvSpPr>
        <p:spPr bwMode="auto">
          <a:xfrm>
            <a:off x="9567349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106280066" name="Текст 8"/>
          <p:cNvSpPr txBox="1"/>
          <p:nvPr/>
        </p:nvSpPr>
        <p:spPr bwMode="auto"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 panose="020B0604020202020204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 lang="ru-RU" sz="120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Font typeface="Arial" panose="020B0604020202020204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 lang="ru-RU" sz="120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Font typeface="Arial" panose="020B0604020202020204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 lang="ru-RU" sz="120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Font typeface="Arial" panose="020B0604020202020204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456275104" name="Текст 8"/>
          <p:cNvSpPr txBox="1"/>
          <p:nvPr/>
        </p:nvSpPr>
        <p:spPr bwMode="auto"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Имя Фамилия</a:t>
            </a:r>
            <a:endParaRPr lang="ru-RU" sz="1600" b="1">
              <a:solidFill>
                <a:schemeClr val="accent5"/>
              </a:solidFill>
            </a:endParaRPr>
          </a:p>
        </p:txBody>
      </p:sp>
      <p:sp>
        <p:nvSpPr>
          <p:cNvPr id="481545546" name="Скругленный прямоугольник 16"/>
          <p:cNvSpPr/>
          <p:nvPr/>
        </p:nvSpPr>
        <p:spPr bwMode="auto"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172799835" name="Рисунок 1"/>
          <p:cNvSpPr>
            <a:spLocks noGrp="1"/>
          </p:cNvSpPr>
          <p:nvPr>
            <p:ph type="pic" sz="quarter" idx="4294967295"/>
          </p:nvPr>
        </p:nvSpPr>
        <p:spPr bwMode="auto">
          <a:xfrm>
            <a:off x="581397" y="1816054"/>
            <a:ext cx="1722566" cy="1552901"/>
          </a:xfrm>
        </p:spPr>
      </p:sp>
      <p:sp>
        <p:nvSpPr>
          <p:cNvPr id="288949743" name="Рисунок 2"/>
          <p:cNvSpPr>
            <a:spLocks noGrp="1"/>
          </p:cNvSpPr>
          <p:nvPr>
            <p:ph type="pic" sz="quarter" idx="4294967295"/>
          </p:nvPr>
        </p:nvSpPr>
        <p:spPr bwMode="auto">
          <a:xfrm>
            <a:off x="2886467" y="1826554"/>
            <a:ext cx="1722566" cy="1542401"/>
          </a:xfrm>
        </p:spPr>
      </p:sp>
      <p:sp>
        <p:nvSpPr>
          <p:cNvPr id="368022300" name="Рисунок 3"/>
          <p:cNvSpPr>
            <a:spLocks noGrp="1"/>
          </p:cNvSpPr>
          <p:nvPr>
            <p:ph type="pic" sz="quarter" idx="4294967295"/>
          </p:nvPr>
        </p:nvSpPr>
        <p:spPr bwMode="auto">
          <a:xfrm>
            <a:off x="5191784" y="1809238"/>
            <a:ext cx="1722567" cy="1559717"/>
          </a:xfrm>
        </p:spPr>
      </p:sp>
      <p:sp>
        <p:nvSpPr>
          <p:cNvPr id="213007835" name="Рисунок 4"/>
          <p:cNvSpPr>
            <a:spLocks noGrp="1"/>
          </p:cNvSpPr>
          <p:nvPr>
            <p:ph type="pic" sz="quarter" idx="4294967295"/>
          </p:nvPr>
        </p:nvSpPr>
        <p:spPr bwMode="auto">
          <a:xfrm>
            <a:off x="7520208" y="1809238"/>
            <a:ext cx="1722567" cy="1559717"/>
          </a:xfrm>
        </p:spPr>
      </p:sp>
      <p:sp>
        <p:nvSpPr>
          <p:cNvPr id="1344225912" name="Рисунок 5"/>
          <p:cNvSpPr>
            <a:spLocks noGrp="1"/>
          </p:cNvSpPr>
          <p:nvPr>
            <p:ph type="pic" sz="quarter" idx="4294967295"/>
          </p:nvPr>
        </p:nvSpPr>
        <p:spPr bwMode="auto">
          <a:xfrm>
            <a:off x="9802422" y="1809238"/>
            <a:ext cx="1722566" cy="1559717"/>
          </a:xfrm>
        </p:spPr>
      </p:sp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Катбуст Технолоджис</a:t>
            </a:r>
            <a:endParaRPr lang="ru-RU">
              <a:latin typeface="Montserrat"/>
            </a:endParaRPr>
          </a:p>
        </p:txBody>
      </p:sp>
      <p:sp>
        <p:nvSpPr>
          <p:cNvPr id="105846267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 panose="020B0604020202020204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программист</a:t>
            </a:r>
            <a:endParaRPr lang="ru-RU" sz="1200">
              <a:solidFill>
                <a:schemeClr val="tx1"/>
              </a:solidFill>
            </a:endParaRP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  <a:defRPr/>
            </a:pPr>
            <a:r>
              <a:rPr lang="en-US" altLang="ru-RU" sz="1200">
                <a:solidFill>
                  <a:schemeClr val="tx1"/>
                </a:solidFill>
              </a:rPr>
              <a:t>@A2232231</a:t>
            </a:r>
            <a:endParaRPr lang="en-US" altLang="ru-RU" sz="1200">
              <a:solidFill>
                <a:schemeClr val="tx1"/>
              </a:solidFill>
            </a:endParaRP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  <a:defRPr/>
            </a:pPr>
            <a:r>
              <a:rPr lang="en-US" altLang="ru-RU" sz="1200">
                <a:solidFill>
                  <a:schemeClr val="tx1"/>
                </a:solidFill>
              </a:rPr>
              <a:t>9990048077</a:t>
            </a:r>
            <a:endParaRPr lang="ru-RU" sz="1200">
              <a:solidFill>
                <a:schemeClr val="tx1"/>
              </a:solidFill>
            </a:endParaRP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  <a:defRPr/>
            </a:pPr>
            <a:r>
              <a:rPr lang="ru-RU" altLang="ru-RU" sz="1200">
                <a:solidFill>
                  <a:schemeClr val="tx1"/>
                </a:solidFill>
              </a:rPr>
              <a:t>школа</a:t>
            </a:r>
            <a:endParaRPr lang="ru-RU" altLang="ru-RU" sz="1200">
              <a:solidFill>
                <a:schemeClr val="tx1"/>
              </a:solidFill>
            </a:endParaRPr>
          </a:p>
        </p:txBody>
      </p:sp>
      <p:sp>
        <p:nvSpPr>
          <p:cNvPr id="1278750663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Аверьянов</a:t>
            </a:r>
            <a:endParaRPr lang="ru-RU" sz="1600" b="1">
              <a:solidFill>
                <a:schemeClr val="accent5"/>
              </a:solidFill>
            </a:endParaRPr>
          </a:p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Тарас</a:t>
            </a:r>
            <a:endParaRPr lang="ru-RU" sz="1600" b="1">
              <a:solidFill>
                <a:schemeClr val="accent5"/>
              </a:solidFill>
            </a:endParaRPr>
          </a:p>
        </p:txBody>
      </p:sp>
      <p:pic>
        <p:nvPicPr>
          <p:cNvPr id="3" name="Изображение 2" descr="425cab02-f4b2-45e3-b58f-890887dd4b9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220" y="1845310"/>
            <a:ext cx="1583690" cy="1583690"/>
          </a:xfrm>
          <a:prstGeom prst="rect">
            <a:avLst/>
          </a:prstGeom>
        </p:spPr>
      </p:pic>
      <p:pic>
        <p:nvPicPr>
          <p:cNvPr id="4" name="Изображение 3"/>
          <p:cNvPicPr/>
          <p:nvPr/>
        </p:nvPicPr>
        <p:blipFill>
          <a:blip r:embed="rId3"/>
          <a:stretch>
            <a:fillRect/>
          </a:stretch>
        </p:blipFill>
        <p:spPr>
          <a:xfrm>
            <a:off x="674370" y="1826260"/>
            <a:ext cx="1460500" cy="17125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1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63204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5297653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endParaRPr lang="ru-RU">
              <a:latin typeface="Montserrat"/>
            </a:endParaRP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400" y="1602105"/>
            <a:ext cx="11413490" cy="116522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altLang="en-US">
                <a:solidFill>
                  <a:schemeClr val="tx1"/>
                </a:solidFill>
              </a:rPr>
              <a:t>Команда сформировалась вокруг задачи хакатона и сразу выбрала подход, в котором </a:t>
            </a:r>
            <a:r>
              <a:rPr lang="en-US" altLang="ru-RU">
                <a:solidFill>
                  <a:schemeClr val="tx1"/>
                </a:solidFill>
              </a:rPr>
              <a:t>AI </a:t>
            </a:r>
            <a:r>
              <a:rPr lang="en-US" altLang="en-US">
                <a:solidFill>
                  <a:schemeClr val="tx1"/>
                </a:solidFill>
              </a:rPr>
              <a:t>отвечает за смысл и содержание, а программный код — за точные операции с </a:t>
            </a:r>
            <a:r>
              <a:rPr lang="en-US" altLang="ru-RU">
                <a:solidFill>
                  <a:schemeClr val="tx1"/>
                </a:solidFill>
              </a:rPr>
              <a:t>PowerPoint </a:t>
            </a:r>
            <a:r>
              <a:rPr lang="en-US" altLang="en-US">
                <a:solidFill>
                  <a:schemeClr val="tx1"/>
                </a:solidFill>
              </a:rPr>
              <a:t>и контроль результата. За время разработки мы постепенно превратили первоначальную идею генератора слайдов в полноценный пайплайн от анализа шаблона до автоматической проверки готовой презентации.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400" y="5139055"/>
            <a:ext cx="10205085" cy="10553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780" indent="-144780" algn="l" defTabSz="578485" rtl="0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en-US" altLang="en-US">
                <a:solidFill>
                  <a:schemeClr val="tx1"/>
                </a:solidFill>
              </a:rPr>
              <a:t>Главной сложностью оказалось научить систему работать не просто с текстом, а с произвольными </a:t>
            </a:r>
            <a:r>
              <a:rPr lang="en-US" altLang="ru-RU">
                <a:solidFill>
                  <a:schemeClr val="tx1"/>
                </a:solidFill>
              </a:rPr>
              <a:t>PPTX-</a:t>
            </a:r>
            <a:r>
              <a:rPr lang="en-US" altLang="en-US">
                <a:solidFill>
                  <a:schemeClr val="tx1"/>
                </a:solidFill>
              </a:rPr>
              <a:t>шаблонами, в которых разные размеры блоков, шрифты, макеты и визуальные элементы. Мы разделили задачу между кодом и нейросетями: код точно анализирует геометрию и ограничения шаблона, а модели занимаются пониманием содержания, генерацией текста, критикой и визуальной оценкой.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400" y="3429000"/>
            <a:ext cx="10880090" cy="107823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en-US" altLang="en-US">
                <a:solidFill>
                  <a:schemeClr val="tx1"/>
                </a:solidFill>
              </a:rPr>
              <a:t>Мы выбрали эту задачу, потому что создание корпоративных презентаций до сих пор требует большого количества ручной работы: нужно одновременно соблюдать фирменный стиль, правильно структурировать информацию и следить за версткой. Нам было интересно решить эту проблему именно с помощью </a:t>
            </a:r>
            <a:r>
              <a:rPr lang="en-US" altLang="ru-RU">
                <a:solidFill>
                  <a:schemeClr val="tx1"/>
                </a:solidFill>
              </a:rPr>
              <a:t>AI, </a:t>
            </a:r>
            <a:r>
              <a:rPr lang="en-US" altLang="en-US">
                <a:solidFill>
                  <a:schemeClr val="tx1"/>
                </a:solidFill>
              </a:rPr>
              <a:t>но при этом не отдавать модели полный контроль над результатом и сделать систему проверяемой.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 lang="ru-RU" b="1">
              <a:solidFill>
                <a:schemeClr val="accent5"/>
              </a:solidFill>
            </a:endParaRPr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>
              <a:lnSpc>
                <a:spcPct val="90000"/>
              </a:lnSpc>
              <a:spcBef>
                <a:spcPts val="315"/>
              </a:spcBef>
              <a:buFont typeface="Arial" panose="020B0604020202020204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1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280" y="1920875"/>
            <a:ext cx="4918710" cy="4561205"/>
          </a:xfrm>
        </p:spPr>
        <p:txBody>
          <a:bodyPr>
            <a:normAutofit fontScale="70000"/>
          </a:bodyPr>
          <a:lstStyle/>
          <a:p>
            <a:pPr>
              <a:defRPr/>
            </a:pPr>
            <a:r>
              <a:rPr lang="en-US" altLang="en-US" sz="1400">
                <a:solidFill>
                  <a:schemeClr val="tx1"/>
                </a:solidFill>
              </a:rPr>
              <a:t>Пользователь работает с </a:t>
            </a:r>
            <a:r>
              <a:rPr lang="en-US" altLang="ru-RU" sz="1400">
                <a:solidFill>
                  <a:schemeClr val="tx1"/>
                </a:solidFill>
              </a:rPr>
              <a:t>React-</a:t>
            </a:r>
            <a:r>
              <a:rPr lang="en-US" altLang="en-US" sz="1400">
                <a:solidFill>
                  <a:schemeClr val="tx1"/>
                </a:solidFill>
              </a:rPr>
              <a:t>интерфейсом, через который загружает шаблон, задает тему презентации и получает три готовых варианта результата. </a:t>
            </a:r>
            <a:r>
              <a:rPr lang="en-US" altLang="ru-RU" sz="1400">
                <a:solidFill>
                  <a:schemeClr val="tx1"/>
                </a:solidFill>
              </a:rPr>
              <a:t>Backend </a:t>
            </a:r>
            <a:r>
              <a:rPr lang="en-US" altLang="en-US" sz="1400">
                <a:solidFill>
                  <a:schemeClr val="tx1"/>
                </a:solidFill>
              </a:rPr>
              <a:t>реализован на </a:t>
            </a:r>
            <a:r>
              <a:rPr lang="en-US" altLang="ru-RU" sz="1400">
                <a:solidFill>
                  <a:schemeClr val="tx1"/>
                </a:solidFill>
              </a:rPr>
              <a:t>FastAPI </a:t>
            </a:r>
            <a:r>
              <a:rPr lang="en-US" altLang="en-US" sz="1400">
                <a:solidFill>
                  <a:schemeClr val="tx1"/>
                </a:solidFill>
              </a:rPr>
              <a:t>и отвечает за пользователей, шаблоны, запуски генерации и версии файлов. Для длительных задач используется очередь </a:t>
            </a:r>
            <a:r>
              <a:rPr lang="en-US" altLang="ru-RU" sz="1400">
                <a:solidFill>
                  <a:schemeClr val="tx1"/>
                </a:solidFill>
              </a:rPr>
              <a:t>Redis + RQ </a:t>
            </a:r>
            <a:r>
              <a:rPr lang="en-US" altLang="en-US" sz="1400">
                <a:solidFill>
                  <a:schemeClr val="tx1"/>
                </a:solidFill>
              </a:rPr>
              <a:t>в </a:t>
            </a:r>
            <a:r>
              <a:rPr lang="en-US" altLang="ru-RU" sz="1400">
                <a:solidFill>
                  <a:schemeClr val="tx1"/>
                </a:solidFill>
              </a:rPr>
              <a:t>Docker, </a:t>
            </a:r>
            <a:r>
              <a:rPr lang="en-US" altLang="en-US" sz="1400">
                <a:solidFill>
                  <a:schemeClr val="tx1"/>
                </a:solidFill>
              </a:rPr>
              <a:t>а при локальном запуске задачи выполняются через фоновый поток. Основной генерационный </a:t>
            </a:r>
            <a:r>
              <a:rPr lang="en-US" altLang="ru-RU" sz="1400">
                <a:solidFill>
                  <a:schemeClr val="tx1"/>
                </a:solidFill>
              </a:rPr>
              <a:t>pipeline </a:t>
            </a:r>
            <a:r>
              <a:rPr lang="en-US" altLang="en-US" sz="1400">
                <a:solidFill>
                  <a:schemeClr val="tx1"/>
                </a:solidFill>
              </a:rPr>
              <a:t>находится в </a:t>
            </a:r>
            <a:r>
              <a:rPr lang="en-US" altLang="ru-RU" sz="1400">
                <a:solidFill>
                  <a:schemeClr val="tx1"/>
                </a:solidFill>
              </a:rPr>
              <a:t>backend/engine </a:t>
            </a:r>
            <a:r>
              <a:rPr lang="en-US" altLang="en-US" sz="1400">
                <a:solidFill>
                  <a:schemeClr val="tx1"/>
                </a:solidFill>
              </a:rPr>
              <a:t>и начинается с анализа исходного </a:t>
            </a:r>
            <a:r>
              <a:rPr lang="en-US" altLang="ru-RU" sz="1400">
                <a:solidFill>
                  <a:schemeClr val="tx1"/>
                </a:solidFill>
              </a:rPr>
              <a:t>PPTX. </a:t>
            </a:r>
            <a:r>
              <a:rPr lang="en-US" altLang="en-US" sz="1400">
                <a:solidFill>
                  <a:schemeClr val="tx1"/>
                </a:solidFill>
              </a:rPr>
              <a:t>На этапе </a:t>
            </a:r>
            <a:r>
              <a:rPr lang="en-US" altLang="ru-RU" sz="1400">
                <a:solidFill>
                  <a:schemeClr val="tx1"/>
                </a:solidFill>
              </a:rPr>
              <a:t>ingest </a:t>
            </a:r>
            <a:r>
              <a:rPr lang="en-US" altLang="en-US" sz="1400">
                <a:solidFill>
                  <a:schemeClr val="tx1"/>
                </a:solidFill>
              </a:rPr>
              <a:t>система извлекает координаты, размеры, шрифты, цвета и ограничения текстовых объектов, а отдельный модуль определяет свободное пространство внутри каждого поля. Затем модель </a:t>
            </a:r>
            <a:r>
              <a:rPr lang="en-US" altLang="ru-RU" sz="1400">
                <a:solidFill>
                  <a:schemeClr val="tx1"/>
                </a:solidFill>
              </a:rPr>
              <a:t>Template Analyst </a:t>
            </a:r>
            <a:r>
              <a:rPr lang="en-US" altLang="en-US" sz="1400">
                <a:solidFill>
                  <a:schemeClr val="tx1"/>
                </a:solidFill>
              </a:rPr>
              <a:t>анализирует изображения слайдов и определяет логотипы, иконки, текстовые области и старый контент, который необходимо заменить. После этого </a:t>
            </a:r>
            <a:r>
              <a:rPr lang="en-US" altLang="ru-RU" sz="1400">
                <a:solidFill>
                  <a:schemeClr val="tx1"/>
                </a:solidFill>
              </a:rPr>
              <a:t>Deck Planner </a:t>
            </a:r>
            <a:r>
              <a:rPr lang="en-US" altLang="en-US" sz="1400">
                <a:solidFill>
                  <a:schemeClr val="tx1"/>
                </a:solidFill>
              </a:rPr>
              <a:t>строит структуру презентации и связывает каждый слайд с конкретными фактами из входных материалов. </a:t>
            </a:r>
            <a:r>
              <a:rPr lang="en-US" altLang="ru-RU" sz="1400">
                <a:solidFill>
                  <a:schemeClr val="tx1"/>
                </a:solidFill>
              </a:rPr>
              <a:t>Slide Worker </a:t>
            </a:r>
            <a:r>
              <a:rPr lang="en-US" altLang="en-US" sz="1400">
                <a:solidFill>
                  <a:schemeClr val="tx1"/>
                </a:solidFill>
              </a:rPr>
              <a:t>генерирует текст непосредственно под ограничения выбранного макета, а </a:t>
            </a:r>
            <a:r>
              <a:rPr lang="en-US" altLang="ru-RU" sz="1400">
                <a:solidFill>
                  <a:schemeClr val="tx1"/>
                </a:solidFill>
              </a:rPr>
              <a:t>Deck Critic </a:t>
            </a:r>
            <a:r>
              <a:rPr lang="en-US" altLang="en-US" sz="1400">
                <a:solidFill>
                  <a:schemeClr val="tx1"/>
                </a:solidFill>
              </a:rPr>
              <a:t>и </a:t>
            </a:r>
            <a:r>
              <a:rPr lang="en-US" altLang="ru-RU" sz="1400">
                <a:solidFill>
                  <a:schemeClr val="tx1"/>
                </a:solidFill>
              </a:rPr>
              <a:t>Prompt Critic </a:t>
            </a:r>
            <a:r>
              <a:rPr lang="en-US" altLang="en-US" sz="1400">
                <a:solidFill>
                  <a:schemeClr val="tx1"/>
                </a:solidFill>
              </a:rPr>
              <a:t>проверяют фактическую корректность и соответствие заданию. Затем </a:t>
            </a:r>
            <a:r>
              <a:rPr lang="en-US" altLang="ru-RU" sz="1400">
                <a:solidFill>
                  <a:schemeClr val="tx1"/>
                </a:solidFill>
              </a:rPr>
              <a:t>renderer.py </a:t>
            </a:r>
            <a:r>
              <a:rPr lang="en-US" altLang="en-US" sz="1400">
                <a:solidFill>
                  <a:schemeClr val="tx1"/>
                </a:solidFill>
              </a:rPr>
              <a:t>собирает настоящую редактируемую презентацию на основе объектов исходного шаблона, а графики и таблицы остаются нативными объектами </a:t>
            </a:r>
            <a:r>
              <a:rPr lang="en-US" altLang="ru-RU" sz="1400">
                <a:solidFill>
                  <a:schemeClr val="tx1"/>
                </a:solidFill>
              </a:rPr>
              <a:t>PowerPoint. </a:t>
            </a:r>
            <a:r>
              <a:rPr lang="en-US" altLang="en-US" sz="1400">
                <a:solidFill>
                  <a:schemeClr val="tx1"/>
                </a:solidFill>
              </a:rPr>
              <a:t>В конце </a:t>
            </a:r>
            <a:r>
              <a:rPr lang="en-US" altLang="ru-RU" sz="1400">
                <a:solidFill>
                  <a:schemeClr val="tx1"/>
                </a:solidFill>
              </a:rPr>
              <a:t>LibreOffice </a:t>
            </a:r>
            <a:r>
              <a:rPr lang="en-US" altLang="en-US" sz="1400">
                <a:solidFill>
                  <a:schemeClr val="tx1"/>
                </a:solidFill>
              </a:rPr>
              <a:t>экспортирует результат в </a:t>
            </a:r>
            <a:r>
              <a:rPr lang="en-US" altLang="ru-RU" sz="1400">
                <a:solidFill>
                  <a:schemeClr val="tx1"/>
                </a:solidFill>
              </a:rPr>
              <a:t>PDF, Poppler </a:t>
            </a:r>
            <a:r>
              <a:rPr lang="en-US" altLang="en-US" sz="1400">
                <a:solidFill>
                  <a:schemeClr val="tx1"/>
                </a:solidFill>
              </a:rPr>
              <a:t>превращает страницы в изображения, после чего код выполняет проверки переполнения, шрифтов, цветов, позиционирования и содержания, а </a:t>
            </a:r>
            <a:r>
              <a:rPr lang="en-US" altLang="ru-RU" sz="1400">
                <a:solidFill>
                  <a:schemeClr val="tx1"/>
                </a:solidFill>
              </a:rPr>
              <a:t>Visual Critic </a:t>
            </a:r>
            <a:r>
              <a:rPr lang="en-US" altLang="en-US" sz="1400">
                <a:solidFill>
                  <a:schemeClr val="tx1"/>
                </a:solidFill>
              </a:rPr>
              <a:t>дополнительно сравнивает готовый слайд с исходным дизайном.</a:t>
            </a:r>
            <a:r>
              <a:rPr lang="ru-RU" sz="1400">
                <a:solidFill>
                  <a:schemeClr val="tx1"/>
                </a:solidFill>
              </a:rPr>
              <a:t> </a:t>
            </a:r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830" y="1920875"/>
            <a:ext cx="4957445" cy="4218305"/>
          </a:xfrm>
        </p:spPr>
        <p:txBody>
          <a:bodyPr>
            <a:normAutofit fontScale="80000"/>
          </a:bodyPr>
          <a:lstStyle/>
          <a:p>
            <a:pPr>
              <a:defRPr/>
            </a:pPr>
            <a:r>
              <a:rPr lang="en-US" altLang="en-US" sz="1400">
                <a:solidFill>
                  <a:schemeClr val="tx1"/>
                </a:solidFill>
              </a:rPr>
              <a:t>Наш продукт решает понятную бизнес-проблему — сокращает количество ручной работы при подготовке презентаций. Основная аудитория решения — компании и команды, которым регулярно приходится создавать презентации в едином корпоративном стиле. Пользователю не нужно самостоятельно переносить информацию между документами, подбирать макеты и вручную следить за тем, помещается ли текст на слайд. Достаточно предоставить существующий корпоративный шаблон и описать, какую презентацию необходимо получить. Сервис сохраняет привычный визуальный стиль компании, поэтому результат можно использовать без полного пересоздания дизайна. Дополнительную ценность дает генерация сразу трех вариантов: базового, более текстового и более визуального. Это позволяет быстро выбрать подходящую подачу одной и той же информации, не создавая несколько презентаций вручную. Важным преимуществом является редактируемость результата — пользователь получает обычный </a:t>
            </a:r>
            <a:r>
              <a:rPr lang="en-US" altLang="ru-RU" sz="1400">
                <a:solidFill>
                  <a:schemeClr val="tx1"/>
                </a:solidFill>
              </a:rPr>
              <a:t>PPTX, </a:t>
            </a:r>
            <a:r>
              <a:rPr lang="en-US" altLang="en-US" sz="1400">
                <a:solidFill>
                  <a:schemeClr val="tx1"/>
                </a:solidFill>
              </a:rPr>
              <a:t>а не картинку или видео, поэтому может продолжить работу в </a:t>
            </a:r>
            <a:r>
              <a:rPr lang="en-US" altLang="ru-RU" sz="1400">
                <a:solidFill>
                  <a:schemeClr val="tx1"/>
                </a:solidFill>
              </a:rPr>
              <a:t>PowerPoint. </a:t>
            </a:r>
            <a:r>
              <a:rPr lang="en-US" altLang="en-US" sz="1400">
                <a:solidFill>
                  <a:schemeClr val="tx1"/>
                </a:solidFill>
              </a:rPr>
              <a:t>Для бизнеса особенно важна и система автоматического контроля, которая проверяет не только текст, но и техническое качество верстки. В перспективе такой продукт можно развивать как корпоративный </a:t>
            </a:r>
            <a:r>
              <a:rPr lang="en-US" altLang="ru-RU" sz="1400">
                <a:solidFill>
                  <a:schemeClr val="tx1"/>
                </a:solidFill>
              </a:rPr>
              <a:t>AI-</a:t>
            </a:r>
            <a:r>
              <a:rPr lang="en-US" altLang="en-US" sz="1400">
                <a:solidFill>
                  <a:schemeClr val="tx1"/>
                </a:solidFill>
              </a:rPr>
              <a:t>сервис с интеграциями, командной работой и отдельными настройками фирменного стиля для каждой компании.</a:t>
            </a:r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 lang="ru-RU"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 lang="ru-RU" sz="2000" b="1">
              <a:solidFill>
                <a:schemeClr val="accent5"/>
              </a:solidFill>
            </a:endParaRPr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  <a:endParaRPr lang="ru-RU" sz="2000" b="1">
              <a:solidFill>
                <a:schemeClr val="accent5"/>
              </a:solidFill>
            </a:endParaRPr>
          </a:p>
          <a:p>
            <a:pPr>
              <a:lnSpc>
                <a:spcPct val="100000"/>
              </a:lnSpc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  <a:prstGeom prst="rect">
          <a:avLst/>
        </a:prstGeom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5499</Words>
  <Application>WPS Presentation</Application>
  <PresentationFormat>On-screen Show (4:3)</PresentationFormat>
  <Paragraphs>97</Paragraphs>
  <Slides>5</Slides>
  <Notes>37</Notes>
  <HiddenSlides>0</HiddenSlides>
  <MMClips>2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1" baseType="lpstr">
      <vt:lpstr>Arial</vt:lpstr>
      <vt:lpstr>SimSun</vt:lpstr>
      <vt:lpstr>Wingdings</vt:lpstr>
      <vt:lpstr>Amatic SC</vt:lpstr>
      <vt:lpstr>Liberation Mono</vt:lpstr>
      <vt:lpstr>Arial</vt:lpstr>
      <vt:lpstr>Wingdings</vt:lpstr>
      <vt:lpstr>Montserrat</vt:lpstr>
      <vt:lpstr>Montserrat Medium</vt:lpstr>
      <vt:lpstr>Microsoft YaHei</vt:lpstr>
      <vt:lpstr>Arial Unicode MS</vt:lpstr>
      <vt:lpstr>Calibri</vt:lpstr>
      <vt:lpstr>Lato Light</vt:lpstr>
      <vt:lpstr>Poppins Light</vt:lpstr>
      <vt:lpstr>Montserrat</vt:lpstr>
      <vt:lpstr>Для Академия инноваторов 16_9</vt:lpstr>
      <vt:lpstr>PowerPoint 演示文稿</vt:lpstr>
      <vt:lpstr>PowerPoint 演示文稿</vt:lpstr>
      <vt:lpstr>PowerPoint 演示文稿</vt:lpstr>
      <vt:lpstr>PowerPoint 演示文稿</vt:lpstr>
      <vt:lpstr>КОРОТКО О РЕШЕНИИ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Администратор</cp:lastModifiedBy>
  <cp:revision>99</cp:revision>
  <dcterms:created xsi:type="dcterms:W3CDTF">2023-05-15T07:36:00Z</dcterms:created>
  <dcterms:modified xsi:type="dcterms:W3CDTF">2026-09-29T21:06:47Z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1049-12.1.0.28096</vt:lpwstr>
  </property>
  <property fmtid="{D5CDD505-2E9C-101B-9397-08002B2CF9AE}" pid="3" name="ICV">
    <vt:lpwstr>869D964BBE3D46A29274E753EB6A332D_13</vt:lpwstr>
  </property>
</Properties>
</file>