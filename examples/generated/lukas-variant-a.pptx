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2"/>
    <p:sldId id="272" r:id="rId3"/>
    <p:sldId id="273" r:id="rId4"/>
    <p:sldId id="274" r:id="rId5"/>
    <p:sldId id="275" r:id="rId6"/>
    <p:sldId id="276" r:id="rId7"/>
    <p:sldId id="277" r:id="rId8"/>
    <p:sldId id="278" r:id="rId9"/>
    <p:sldId id="279" r:id="rId10"/>
    <p:sldId id="280" r:id="rId11"/>
  </p:sldIdLst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>
        <p:scale>
          <a:sx n="90" d="100"/>
          <a:sy n="90" d="100"/>
        </p:scale>
        <p:origin x="-370" y="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794398" y="560500"/>
            <a:ext cx="406736" cy="407269"/>
          </a:xfrm>
          <a:prstGeom prst="rect">
            <a:avLst/>
          </a:prstGeom>
        </p:spPr>
      </p:pic>
      <p:sp>
        <p:nvSpPr>
          <p:cNvPr id="18" name="bg object 18"/>
          <p:cNvSpPr/>
          <p:nvPr/>
        </p:nvSpPr>
        <p:spPr>
          <a:xfrm>
            <a:off x="3223423" y="563251"/>
            <a:ext cx="407034" cy="401955"/>
          </a:xfrm>
          <a:custGeom>
            <a:avLst/>
            <a:gdLst/>
            <a:ahLst/>
            <a:cxnLst/>
            <a:rect l="l" t="t" r="r" b="b"/>
            <a:pathLst>
              <a:path w="407035" h="401955">
                <a:moveTo>
                  <a:pt x="203358" y="0"/>
                </a:moveTo>
                <a:lnTo>
                  <a:pt x="156729" y="5305"/>
                </a:lnTo>
                <a:lnTo>
                  <a:pt x="113924" y="20418"/>
                </a:lnTo>
                <a:lnTo>
                  <a:pt x="76166" y="44131"/>
                </a:lnTo>
                <a:lnTo>
                  <a:pt x="44674" y="75241"/>
                </a:lnTo>
                <a:lnTo>
                  <a:pt x="20668" y="112540"/>
                </a:lnTo>
                <a:lnTo>
                  <a:pt x="5370" y="154822"/>
                </a:lnTo>
                <a:lnTo>
                  <a:pt x="0" y="200883"/>
                </a:lnTo>
                <a:lnTo>
                  <a:pt x="5370" y="246943"/>
                </a:lnTo>
                <a:lnTo>
                  <a:pt x="20668" y="289226"/>
                </a:lnTo>
                <a:lnTo>
                  <a:pt x="44674" y="326525"/>
                </a:lnTo>
                <a:lnTo>
                  <a:pt x="76166" y="357634"/>
                </a:lnTo>
                <a:lnTo>
                  <a:pt x="113924" y="381348"/>
                </a:lnTo>
                <a:lnTo>
                  <a:pt x="156729" y="396461"/>
                </a:lnTo>
                <a:lnTo>
                  <a:pt x="203359" y="401766"/>
                </a:lnTo>
                <a:lnTo>
                  <a:pt x="249989" y="396461"/>
                </a:lnTo>
                <a:lnTo>
                  <a:pt x="292795" y="381348"/>
                </a:lnTo>
                <a:lnTo>
                  <a:pt x="327799" y="359365"/>
                </a:lnTo>
                <a:lnTo>
                  <a:pt x="200805" y="359365"/>
                </a:lnTo>
                <a:lnTo>
                  <a:pt x="190731" y="358850"/>
                </a:lnTo>
                <a:lnTo>
                  <a:pt x="183127" y="357634"/>
                </a:lnTo>
                <a:lnTo>
                  <a:pt x="182820" y="357634"/>
                </a:lnTo>
                <a:lnTo>
                  <a:pt x="176973" y="355772"/>
                </a:lnTo>
                <a:lnTo>
                  <a:pt x="174943" y="353907"/>
                </a:lnTo>
                <a:lnTo>
                  <a:pt x="175063" y="246943"/>
                </a:lnTo>
                <a:lnTo>
                  <a:pt x="175082" y="228346"/>
                </a:lnTo>
                <a:lnTo>
                  <a:pt x="174386" y="226700"/>
                </a:lnTo>
                <a:lnTo>
                  <a:pt x="67780" y="124263"/>
                </a:lnTo>
                <a:lnTo>
                  <a:pt x="67910" y="121392"/>
                </a:lnTo>
                <a:lnTo>
                  <a:pt x="95613" y="90944"/>
                </a:lnTo>
                <a:lnTo>
                  <a:pt x="103532" y="87920"/>
                </a:lnTo>
                <a:lnTo>
                  <a:pt x="370210" y="87920"/>
                </a:lnTo>
                <a:lnTo>
                  <a:pt x="362049" y="75241"/>
                </a:lnTo>
                <a:lnTo>
                  <a:pt x="330555" y="44131"/>
                </a:lnTo>
                <a:lnTo>
                  <a:pt x="292795" y="20418"/>
                </a:lnTo>
                <a:lnTo>
                  <a:pt x="249989" y="5305"/>
                </a:lnTo>
                <a:lnTo>
                  <a:pt x="203358" y="0"/>
                </a:lnTo>
                <a:close/>
              </a:path>
              <a:path w="407035" h="401955">
                <a:moveTo>
                  <a:pt x="370210" y="87920"/>
                </a:moveTo>
                <a:lnTo>
                  <a:pt x="298032" y="87920"/>
                </a:lnTo>
                <a:lnTo>
                  <a:pt x="300889" y="88064"/>
                </a:lnTo>
                <a:lnTo>
                  <a:pt x="305954" y="90945"/>
                </a:lnTo>
                <a:lnTo>
                  <a:pt x="333654" y="121392"/>
                </a:lnTo>
                <a:lnTo>
                  <a:pt x="333784" y="124263"/>
                </a:lnTo>
                <a:lnTo>
                  <a:pt x="227224" y="226700"/>
                </a:lnTo>
                <a:lnTo>
                  <a:pt x="226528" y="228346"/>
                </a:lnTo>
                <a:lnTo>
                  <a:pt x="226621" y="353907"/>
                </a:lnTo>
                <a:lnTo>
                  <a:pt x="224598" y="355772"/>
                </a:lnTo>
                <a:lnTo>
                  <a:pt x="218767" y="357634"/>
                </a:lnTo>
                <a:lnTo>
                  <a:pt x="218460" y="357634"/>
                </a:lnTo>
                <a:lnTo>
                  <a:pt x="210872" y="358850"/>
                </a:lnTo>
                <a:lnTo>
                  <a:pt x="200805" y="359365"/>
                </a:lnTo>
                <a:lnTo>
                  <a:pt x="327799" y="359365"/>
                </a:lnTo>
                <a:lnTo>
                  <a:pt x="330555" y="357634"/>
                </a:lnTo>
                <a:lnTo>
                  <a:pt x="362049" y="326525"/>
                </a:lnTo>
                <a:lnTo>
                  <a:pt x="386056" y="289226"/>
                </a:lnTo>
                <a:lnTo>
                  <a:pt x="401356" y="246943"/>
                </a:lnTo>
                <a:lnTo>
                  <a:pt x="406727" y="200883"/>
                </a:lnTo>
                <a:lnTo>
                  <a:pt x="401356" y="154822"/>
                </a:lnTo>
                <a:lnTo>
                  <a:pt x="386056" y="112540"/>
                </a:lnTo>
                <a:lnTo>
                  <a:pt x="370303" y="88064"/>
                </a:lnTo>
                <a:lnTo>
                  <a:pt x="370210" y="87920"/>
                </a:lnTo>
                <a:close/>
              </a:path>
              <a:path w="407035" h="401955">
                <a:moveTo>
                  <a:pt x="298032" y="87920"/>
                </a:moveTo>
                <a:lnTo>
                  <a:pt x="103532" y="87920"/>
                </a:lnTo>
                <a:lnTo>
                  <a:pt x="199458" y="180189"/>
                </a:lnTo>
                <a:lnTo>
                  <a:pt x="202105" y="180189"/>
                </a:lnTo>
                <a:lnTo>
                  <a:pt x="298032" y="8792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716651" y="615536"/>
            <a:ext cx="1442833" cy="364892"/>
          </a:xfrm>
          <a:prstGeom prst="rect">
            <a:avLst/>
          </a:prstGeom>
        </p:spPr>
      </p:pic>
      <p:sp>
        <p:nvSpPr>
          <p:cNvPr id="20" name="bg object 20"/>
          <p:cNvSpPr/>
          <p:nvPr/>
        </p:nvSpPr>
        <p:spPr>
          <a:xfrm>
            <a:off x="5357388" y="549492"/>
            <a:ext cx="22860" cy="429895"/>
          </a:xfrm>
          <a:custGeom>
            <a:avLst/>
            <a:gdLst/>
            <a:ahLst/>
            <a:cxnLst/>
            <a:rect l="l" t="t" r="r" b="b"/>
            <a:pathLst>
              <a:path w="22860" h="429894">
                <a:moveTo>
                  <a:pt x="22286" y="0"/>
                </a:moveTo>
                <a:lnTo>
                  <a:pt x="0" y="0"/>
                </a:lnTo>
                <a:lnTo>
                  <a:pt x="0" y="429285"/>
                </a:lnTo>
                <a:lnTo>
                  <a:pt x="22287" y="429285"/>
                </a:lnTo>
                <a:lnTo>
                  <a:pt x="222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1" name="bg object 21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5502253" y="678828"/>
            <a:ext cx="1639436" cy="181620"/>
          </a:xfrm>
          <a:prstGeom prst="rect">
            <a:avLst/>
          </a:prstGeom>
        </p:spPr>
      </p:pic>
      <p:sp>
        <p:nvSpPr>
          <p:cNvPr id="22" name="bg object 22"/>
          <p:cNvSpPr/>
          <p:nvPr/>
        </p:nvSpPr>
        <p:spPr>
          <a:xfrm>
            <a:off x="7264267" y="549492"/>
            <a:ext cx="22860" cy="429895"/>
          </a:xfrm>
          <a:custGeom>
            <a:avLst/>
            <a:gdLst/>
            <a:ahLst/>
            <a:cxnLst/>
            <a:rect l="l" t="t" r="r" b="b"/>
            <a:pathLst>
              <a:path w="22859" h="429894">
                <a:moveTo>
                  <a:pt x="22286" y="0"/>
                </a:moveTo>
                <a:lnTo>
                  <a:pt x="0" y="0"/>
                </a:lnTo>
                <a:lnTo>
                  <a:pt x="0" y="429285"/>
                </a:lnTo>
                <a:lnTo>
                  <a:pt x="22287" y="429285"/>
                </a:lnTo>
                <a:lnTo>
                  <a:pt x="2228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72490" y="1758772"/>
            <a:ext cx="6700520" cy="26593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13A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693826" y="4583633"/>
            <a:ext cx="6273800" cy="9417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0" dirty="0"/>
              <a:t>х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13A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0" dirty="0"/>
              <a:t>х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13A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176934" y="2005965"/>
            <a:ext cx="5208270" cy="3479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rgbClr val="313A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0" dirty="0"/>
              <a:t>х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1" i="0">
                <a:solidFill>
                  <a:srgbClr val="313A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0" dirty="0"/>
              <a:t>х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8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495300" y="501395"/>
            <a:ext cx="11189335" cy="5880100"/>
          </a:xfrm>
          <a:custGeom>
            <a:avLst/>
            <a:gdLst/>
            <a:ahLst/>
            <a:cxnLst/>
            <a:rect l="l" t="t" r="r" b="b"/>
            <a:pathLst>
              <a:path w="11189335" h="5880100">
                <a:moveTo>
                  <a:pt x="11054588" y="0"/>
                </a:moveTo>
                <a:lnTo>
                  <a:pt x="134645" y="0"/>
                </a:lnTo>
                <a:lnTo>
                  <a:pt x="92083" y="6868"/>
                </a:lnTo>
                <a:lnTo>
                  <a:pt x="55121" y="25989"/>
                </a:lnTo>
                <a:lnTo>
                  <a:pt x="25976" y="55138"/>
                </a:lnTo>
                <a:lnTo>
                  <a:pt x="6863" y="92090"/>
                </a:lnTo>
                <a:lnTo>
                  <a:pt x="0" y="134619"/>
                </a:lnTo>
                <a:lnTo>
                  <a:pt x="0" y="5744946"/>
                </a:lnTo>
                <a:lnTo>
                  <a:pt x="6863" y="5787503"/>
                </a:lnTo>
                <a:lnTo>
                  <a:pt x="25976" y="5824464"/>
                </a:lnTo>
                <a:lnTo>
                  <a:pt x="55121" y="5853612"/>
                </a:lnTo>
                <a:lnTo>
                  <a:pt x="92083" y="5872727"/>
                </a:lnTo>
                <a:lnTo>
                  <a:pt x="134645" y="5879592"/>
                </a:lnTo>
                <a:lnTo>
                  <a:pt x="11054588" y="5879592"/>
                </a:lnTo>
                <a:lnTo>
                  <a:pt x="11097117" y="5872727"/>
                </a:lnTo>
                <a:lnTo>
                  <a:pt x="11134069" y="5853612"/>
                </a:lnTo>
                <a:lnTo>
                  <a:pt x="11163218" y="5824464"/>
                </a:lnTo>
                <a:lnTo>
                  <a:pt x="11182339" y="5787503"/>
                </a:lnTo>
                <a:lnTo>
                  <a:pt x="11189208" y="5744946"/>
                </a:lnTo>
                <a:lnTo>
                  <a:pt x="11189208" y="134619"/>
                </a:lnTo>
                <a:lnTo>
                  <a:pt x="11182339" y="92090"/>
                </a:lnTo>
                <a:lnTo>
                  <a:pt x="11163218" y="55138"/>
                </a:lnTo>
                <a:lnTo>
                  <a:pt x="11134069" y="25989"/>
                </a:lnTo>
                <a:lnTo>
                  <a:pt x="11097117" y="6868"/>
                </a:lnTo>
                <a:lnTo>
                  <a:pt x="1105458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496823" y="502919"/>
            <a:ext cx="11188065" cy="756285"/>
          </a:xfrm>
          <a:custGeom>
            <a:avLst/>
            <a:gdLst/>
            <a:ahLst/>
            <a:cxnLst/>
            <a:rect l="l" t="t" r="r" b="b"/>
            <a:pathLst>
              <a:path w="11188065" h="756285">
                <a:moveTo>
                  <a:pt x="11054715" y="0"/>
                </a:moveTo>
                <a:lnTo>
                  <a:pt x="132930" y="0"/>
                </a:lnTo>
                <a:lnTo>
                  <a:pt x="90913" y="6781"/>
                </a:lnTo>
                <a:lnTo>
                  <a:pt x="54422" y="25664"/>
                </a:lnTo>
                <a:lnTo>
                  <a:pt x="25647" y="54452"/>
                </a:lnTo>
                <a:lnTo>
                  <a:pt x="6776" y="90952"/>
                </a:lnTo>
                <a:lnTo>
                  <a:pt x="0" y="132968"/>
                </a:lnTo>
                <a:lnTo>
                  <a:pt x="0" y="755903"/>
                </a:lnTo>
                <a:lnTo>
                  <a:pt x="11187684" y="755903"/>
                </a:lnTo>
                <a:lnTo>
                  <a:pt x="11187684" y="132968"/>
                </a:lnTo>
                <a:lnTo>
                  <a:pt x="11180902" y="90952"/>
                </a:lnTo>
                <a:lnTo>
                  <a:pt x="11162019" y="54452"/>
                </a:lnTo>
                <a:lnTo>
                  <a:pt x="11133231" y="25664"/>
                </a:lnTo>
                <a:lnTo>
                  <a:pt x="11096731" y="6781"/>
                </a:lnTo>
                <a:lnTo>
                  <a:pt x="11054715" y="0"/>
                </a:lnTo>
                <a:close/>
              </a:path>
            </a:pathLst>
          </a:custGeom>
          <a:solidFill>
            <a:srgbClr val="313A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bg object 19"/>
          <p:cNvSpPr/>
          <p:nvPr/>
        </p:nvSpPr>
        <p:spPr>
          <a:xfrm>
            <a:off x="7298435" y="880871"/>
            <a:ext cx="1461770" cy="378460"/>
          </a:xfrm>
          <a:custGeom>
            <a:avLst/>
            <a:gdLst/>
            <a:ahLst/>
            <a:cxnLst/>
            <a:rect l="l" t="t" r="r" b="b"/>
            <a:pathLst>
              <a:path w="1461770" h="378459">
                <a:moveTo>
                  <a:pt x="1375664" y="0"/>
                </a:moveTo>
                <a:lnTo>
                  <a:pt x="85852" y="0"/>
                </a:lnTo>
                <a:lnTo>
                  <a:pt x="52452" y="6752"/>
                </a:lnTo>
                <a:lnTo>
                  <a:pt x="25161" y="25161"/>
                </a:lnTo>
                <a:lnTo>
                  <a:pt x="6752" y="52452"/>
                </a:lnTo>
                <a:lnTo>
                  <a:pt x="0" y="85851"/>
                </a:lnTo>
                <a:lnTo>
                  <a:pt x="0" y="377951"/>
                </a:lnTo>
                <a:lnTo>
                  <a:pt x="1461516" y="377951"/>
                </a:lnTo>
                <a:lnTo>
                  <a:pt x="1461516" y="85851"/>
                </a:lnTo>
                <a:lnTo>
                  <a:pt x="1454763" y="52452"/>
                </a:lnTo>
                <a:lnTo>
                  <a:pt x="1436354" y="25161"/>
                </a:lnTo>
                <a:lnTo>
                  <a:pt x="1409063" y="6752"/>
                </a:lnTo>
                <a:lnTo>
                  <a:pt x="1375664" y="0"/>
                </a:lnTo>
                <a:close/>
              </a:path>
            </a:pathLst>
          </a:custGeom>
          <a:solidFill>
            <a:srgbClr val="4D5A7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bg object 20"/>
          <p:cNvSpPr/>
          <p:nvPr/>
        </p:nvSpPr>
        <p:spPr>
          <a:xfrm>
            <a:off x="5833871" y="880871"/>
            <a:ext cx="1461770" cy="378460"/>
          </a:xfrm>
          <a:custGeom>
            <a:avLst/>
            <a:gdLst/>
            <a:ahLst/>
            <a:cxnLst/>
            <a:rect l="l" t="t" r="r" b="b"/>
            <a:pathLst>
              <a:path w="1461770" h="378459">
                <a:moveTo>
                  <a:pt x="1375663" y="0"/>
                </a:moveTo>
                <a:lnTo>
                  <a:pt x="85851" y="0"/>
                </a:lnTo>
                <a:lnTo>
                  <a:pt x="52452" y="6752"/>
                </a:lnTo>
                <a:lnTo>
                  <a:pt x="25161" y="25161"/>
                </a:lnTo>
                <a:lnTo>
                  <a:pt x="6752" y="52452"/>
                </a:lnTo>
                <a:lnTo>
                  <a:pt x="0" y="85851"/>
                </a:lnTo>
                <a:lnTo>
                  <a:pt x="0" y="377951"/>
                </a:lnTo>
                <a:lnTo>
                  <a:pt x="1461516" y="377951"/>
                </a:lnTo>
                <a:lnTo>
                  <a:pt x="1461516" y="85851"/>
                </a:lnTo>
                <a:lnTo>
                  <a:pt x="1454763" y="52452"/>
                </a:lnTo>
                <a:lnTo>
                  <a:pt x="1436354" y="25161"/>
                </a:lnTo>
                <a:lnTo>
                  <a:pt x="1409063" y="6752"/>
                </a:lnTo>
                <a:lnTo>
                  <a:pt x="1375663" y="0"/>
                </a:lnTo>
                <a:close/>
              </a:path>
            </a:pathLst>
          </a:custGeom>
          <a:solidFill>
            <a:srgbClr val="FD5539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12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0" dirty="0"/>
              <a:t>х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F0F8F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68579" y="211277"/>
            <a:ext cx="10213136" cy="131589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1" i="0">
                <a:solidFill>
                  <a:srgbClr val="313A56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57962" y="1258824"/>
            <a:ext cx="11265535" cy="25895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601216" y="6168145"/>
            <a:ext cx="101600" cy="1962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303030"/>
                </a:solidFill>
                <a:latin typeface="Microsoft Sans Serif"/>
                <a:cs typeface="Microsoft Sans Serif"/>
              </a:defRPr>
            </a:lvl1pPr>
          </a:lstStyle>
          <a:p>
            <a:pPr marL="12700">
              <a:lnSpc>
                <a:spcPts val="1425"/>
              </a:lnSpc>
            </a:pPr>
            <a:r>
              <a:rPr spc="-50" dirty="0"/>
              <a:t>х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9/30/2026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13" Type="http://schemas.openxmlformats.org/officeDocument/2006/relationships/image" Target="../media/image14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12" Type="http://schemas.openxmlformats.org/officeDocument/2006/relationships/image" Target="../media/image30.png"/><Relationship Id="rId17" Type="http://schemas.openxmlformats.org/officeDocument/2006/relationships/image" Target="../media/image18.png"/><Relationship Id="rId2" Type="http://schemas.openxmlformats.org/officeDocument/2006/relationships/image" Target="../media/image20.png"/><Relationship Id="rId16" Type="http://schemas.openxmlformats.org/officeDocument/2006/relationships/image" Target="../media/image17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4.pn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5" Type="http://schemas.openxmlformats.org/officeDocument/2006/relationships/image" Target="../media/image16.png"/><Relationship Id="rId10" Type="http://schemas.openxmlformats.org/officeDocument/2006/relationships/image" Target="../media/image28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Relationship Id="rId1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6468" y="559308"/>
            <a:ext cx="1559052" cy="405384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2398902" y="410083"/>
            <a:ext cx="25400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endParaRPr/>
          </a:p>
        </p:txBody>
      </p:sp>
      <p:sp>
        <p:nvSpPr>
          <p:cNvPr id="2" name="object 2" descr="$PPTXTitle"/>
          <p:cNvSpPr txBox="1">
            <a:spLocks noGrp="1"/>
          </p:cNvSpPr>
          <p:nvPr>
            <p:ph type="ctrTitle"/>
          </p:nvPr>
        </p:nvSpPr>
        <p:spPr>
          <a:xfrm>
            <a:off x="672490" y="1758772"/>
            <a:ext cx="8776310" cy="1841990"/>
          </a:xfrm>
          <a:prstGeom prst="rect">
            <a:avLst/>
          </a:prstGeom>
        </p:spPr>
        <p:txBody>
          <a:bodyPr vert="horz" wrap="square" lIns="0" tIns="161925" rIns="1122263" bIns="11251" rtlCol="0">
            <a:spAutoFit/>
          </a:bodyPr>
          <a:lstStyle/>
          <a:p>
            <a:pPr marL="12700" marR="1716405">
              <a:lnSpc>
                <a:spcPts val="6530"/>
              </a:lnSpc>
              <a:spcBef>
                <a:spcPts val="1275"/>
              </a:spcBef>
              <a:defRPr/>
            </a:pPr>
            <a:r>
              <a:rPr sz="6400" dirty="0" err="1" smtClean="0">
                <a:solidFill>
                  <a:srgbClr val="141B27"/>
                </a:solidFill>
              </a:rPr>
              <a:t>Управляем</a:t>
            </a:r>
            <a:r>
              <a:rPr lang="ru-RU" sz="6400" dirty="0" smtClean="0">
                <a:solidFill>
                  <a:srgbClr val="141B27"/>
                </a:solidFill>
              </a:rPr>
              <a:t>ы</a:t>
            </a:r>
            <a:r>
              <a:rPr sz="6400" dirty="0" smtClean="0">
                <a:solidFill>
                  <a:srgbClr val="141B27"/>
                </a:solidFill>
              </a:rPr>
              <a:t>й </a:t>
            </a:r>
            <a:r>
              <a:rPr sz="6400" dirty="0">
                <a:solidFill>
                  <a:srgbClr val="141B27"/>
                </a:solidFill>
              </a:rPr>
              <a:t>доступ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defRPr/>
            </a:pPr>
            <a:r>
              <a:rPr sz="2000" spc="50" dirty="0">
                <a:solidFill>
                  <a:srgbClr val="141B27"/>
                </a:solidFill>
                <a:latin typeface="Trebuchet MS"/>
                <a:cs typeface="Trebuchet MS"/>
              </a:rPr>
              <a:t>Безопасная работа с корпоративными данными через генеративный ИИ.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13A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8891" y="5433466"/>
            <a:ext cx="2885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Утечка из контура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71844" y="557783"/>
            <a:ext cx="5820410" cy="5832475"/>
            <a:chOff x="6371844" y="557783"/>
            <a:chExt cx="5820410" cy="5832475"/>
          </a:xfrm>
        </p:grpSpPr>
        <p:sp>
          <p:nvSpPr>
            <p:cNvPr id="4" name="object 4"/>
            <p:cNvSpPr/>
            <p:nvPr/>
          </p:nvSpPr>
          <p:spPr>
            <a:xfrm>
              <a:off x="6371844" y="557783"/>
              <a:ext cx="5820410" cy="5832475"/>
            </a:xfrm>
            <a:custGeom>
              <a:avLst/>
              <a:gdLst/>
              <a:ahLst/>
              <a:cxnLst/>
              <a:rect l="l" t="t" r="r" b="b"/>
              <a:pathLst>
                <a:path w="5820409" h="5832475">
                  <a:moveTo>
                    <a:pt x="5820156" y="0"/>
                  </a:moveTo>
                  <a:lnTo>
                    <a:pt x="372109" y="0"/>
                  </a:lnTo>
                  <a:lnTo>
                    <a:pt x="325438" y="2899"/>
                  </a:lnTo>
                  <a:lnTo>
                    <a:pt x="280494" y="11366"/>
                  </a:lnTo>
                  <a:lnTo>
                    <a:pt x="237629" y="25050"/>
                  </a:lnTo>
                  <a:lnTo>
                    <a:pt x="197190" y="43603"/>
                  </a:lnTo>
                  <a:lnTo>
                    <a:pt x="159526" y="66676"/>
                  </a:lnTo>
                  <a:lnTo>
                    <a:pt x="124986" y="93920"/>
                  </a:lnTo>
                  <a:lnTo>
                    <a:pt x="93920" y="124986"/>
                  </a:lnTo>
                  <a:lnTo>
                    <a:pt x="66676" y="159526"/>
                  </a:lnTo>
                  <a:lnTo>
                    <a:pt x="43603" y="197190"/>
                  </a:lnTo>
                  <a:lnTo>
                    <a:pt x="25050" y="237629"/>
                  </a:lnTo>
                  <a:lnTo>
                    <a:pt x="11366" y="280494"/>
                  </a:lnTo>
                  <a:lnTo>
                    <a:pt x="2899" y="325438"/>
                  </a:lnTo>
                  <a:lnTo>
                    <a:pt x="0" y="372110"/>
                  </a:lnTo>
                  <a:lnTo>
                    <a:pt x="0" y="5460238"/>
                  </a:lnTo>
                  <a:lnTo>
                    <a:pt x="2899" y="5506914"/>
                  </a:lnTo>
                  <a:lnTo>
                    <a:pt x="11366" y="5551861"/>
                  </a:lnTo>
                  <a:lnTo>
                    <a:pt x="25050" y="5594729"/>
                  </a:lnTo>
                  <a:lnTo>
                    <a:pt x="43603" y="5635169"/>
                  </a:lnTo>
                  <a:lnTo>
                    <a:pt x="66676" y="5672832"/>
                  </a:lnTo>
                  <a:lnTo>
                    <a:pt x="93920" y="5707371"/>
                  </a:lnTo>
                  <a:lnTo>
                    <a:pt x="124986" y="5738436"/>
                  </a:lnTo>
                  <a:lnTo>
                    <a:pt x="159526" y="5765678"/>
                  </a:lnTo>
                  <a:lnTo>
                    <a:pt x="197190" y="5788749"/>
                  </a:lnTo>
                  <a:lnTo>
                    <a:pt x="237629" y="5807300"/>
                  </a:lnTo>
                  <a:lnTo>
                    <a:pt x="280494" y="5820983"/>
                  </a:lnTo>
                  <a:lnTo>
                    <a:pt x="325438" y="5829448"/>
                  </a:lnTo>
                  <a:lnTo>
                    <a:pt x="372109" y="5832348"/>
                  </a:lnTo>
                  <a:lnTo>
                    <a:pt x="5820156" y="5832348"/>
                  </a:lnTo>
                  <a:lnTo>
                    <a:pt x="5820156" y="0"/>
                  </a:lnTo>
                  <a:close/>
                </a:path>
              </a:pathLst>
            </a:custGeom>
            <a:solidFill>
              <a:srgbClr val="DCE3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0340" y="708659"/>
              <a:ext cx="5661659" cy="55275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9372" y="708659"/>
              <a:ext cx="4262628" cy="5527548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3271" tIns="231571" rIns="4464899" bIns="426137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  <a:defRPr/>
            </a:pPr>
            <a:r>
              <a:rPr sz="3600" spc="-10" dirty="0">
                <a:solidFill>
                  <a:srgbClr val="F0F8FD"/>
                </a:solidFill>
              </a:rPr>
              <a:t>Теневой ИИ</a:t>
            </a:r>
          </a:p>
        </p:txBody>
      </p:sp>
      <p:sp>
        <p:nvSpPr>
          <p:cNvPr id="10" name="object 10"/>
          <p:cNvSpPr/>
          <p:nvPr/>
        </p:nvSpPr>
        <p:spPr>
          <a:xfrm>
            <a:off x="715454" y="2218182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5454" y="2995422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02283" y="2114835"/>
            <a:ext cx="3352165" cy="77724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 dirty="0">
                <a:solidFill>
                  <a:srgbClr val="F0F8FD"/>
                </a:solidFill>
                <a:latin typeface="Trebuchet MS"/>
                <a:cs typeface="Trebuchet MS"/>
              </a:rPr>
              <a:t>Ввод ПД и кода в чат-боты</a:t>
            </a:r>
          </a:p>
        </p:txBody>
      </p:sp>
      <p:sp>
        <p:nvSpPr>
          <p:cNvPr id="22" name="object 12 — item 2"/>
          <p:cNvSpPr txBox="1"/>
          <p:nvPr/>
        </p:nvSpPr>
        <p:spPr>
          <a:xfrm>
            <a:off x="1002283" y="2892075"/>
            <a:ext cx="3352165" cy="77724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 dirty="0">
                <a:solidFill>
                  <a:srgbClr val="F0F8FD"/>
                </a:solidFill>
                <a:latin typeface="Trebuchet MS"/>
                <a:cs typeface="Trebuchet MS"/>
              </a:rPr>
              <a:t>Нет контроля моделей и данных</a:t>
            </a: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756342" y="6153126"/>
            <a:ext cx="469265" cy="228600"/>
            <a:chOff x="1756342" y="6153126"/>
            <a:chExt cx="469265" cy="2286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6342" y="6153126"/>
              <a:ext cx="228156" cy="2282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7001" y="6154668"/>
              <a:ext cx="228151" cy="22521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3194038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63692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object 19" descr="$PPTXTitle"/>
          <p:cNvSpPr txBox="1">
            <a:spLocks noGrp="1"/>
          </p:cNvSpPr>
          <p:nvPr>
            <p:ph type="title"/>
          </p:nvPr>
        </p:nvSpPr>
        <p:spPr>
          <a:xfrm>
            <a:off x="672490" y="406095"/>
            <a:ext cx="9237345" cy="574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600" dirty="0">
                <a:solidFill/>
              </a:rPr>
              <a:t>Решение: единый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1001979" y="2569637"/>
            <a:ext cx="4042410" cy="289718"/>
          </a:xfrm>
          <a:prstGeom prst="rect">
            <a:avLst/>
          </a:prstGeom>
        </p:spPr>
        <p:txBody>
          <a:bodyPr vert="horz" wrap="square" lIns="0" tIns="889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defRPr/>
            </a:pPr>
            <a:r>
              <a:rPr sz="1200" dirty="0">
                <a:solidFill>
                  <a:srgbClr val="313A56"/>
                </a:solidFill>
                <a:latin typeface="Trebuchet MS"/>
                <a:cs typeface="Trebuchet MS"/>
              </a:rPr>
              <a:t>Блокирует опасное</a:t>
            </a:r>
          </a:p>
        </p:txBody>
      </p:sp>
      <p:sp>
        <p:nvSpPr>
          <p:cNvPr id="31" name="object 15 — item 4"/>
          <p:cNvSpPr txBox="1"/>
          <p:nvPr/>
        </p:nvSpPr>
        <p:spPr>
          <a:xfrm>
            <a:off x="1001979" y="3529757"/>
            <a:ext cx="4042410" cy="289718"/>
          </a:xfrm>
          <a:prstGeom prst="rect">
            <a:avLst/>
          </a:prstGeom>
        </p:spPr>
        <p:txBody>
          <a:bodyPr vert="horz" wrap="square" lIns="0" tIns="889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defRPr/>
            </a:pPr>
            <a:r>
              <a:rPr sz="1200" dirty="0">
                <a:solidFill>
                  <a:srgbClr val="313A56"/>
                </a:solidFill>
                <a:latin typeface="Trebuchet MS"/>
                <a:cs typeface="Trebuchet MS"/>
              </a:rPr>
              <a:t>Аудит действий</a:t>
            </a:r>
          </a:p>
        </p:txBody>
      </p:sp>
      <p:sp>
        <p:nvSpPr>
          <p:cNvPr id="30" name="object 15 — item 3"/>
          <p:cNvSpPr txBox="1"/>
          <p:nvPr/>
        </p:nvSpPr>
        <p:spPr>
          <a:xfrm>
            <a:off x="1001979" y="3270677"/>
            <a:ext cx="4042410" cy="289718"/>
          </a:xfrm>
          <a:prstGeom prst="rect">
            <a:avLst/>
          </a:prstGeom>
        </p:spPr>
        <p:txBody>
          <a:bodyPr vert="horz" wrap="square" lIns="0" tIns="889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defRPr/>
            </a:pPr>
            <a:r>
              <a:rPr sz="1200" dirty="0">
                <a:solidFill>
                  <a:srgbClr val="313A56"/>
                </a:solidFill>
                <a:latin typeface="Trebuchet MS"/>
                <a:cs typeface="Trebuchet MS"/>
              </a:rPr>
              <a:t>Контроль доступа</a:t>
            </a:r>
          </a:p>
        </p:txBody>
      </p:sp>
      <p:sp>
        <p:nvSpPr>
          <p:cNvPr id="29" name="object 15 — item 2"/>
          <p:cNvSpPr txBox="1"/>
          <p:nvPr/>
        </p:nvSpPr>
        <p:spPr>
          <a:xfrm>
            <a:off x="1001979" y="2828717"/>
            <a:ext cx="4042410" cy="441960"/>
          </a:xfrm>
          <a:prstGeom prst="rect">
            <a:avLst/>
          </a:prstGeom>
        </p:spPr>
        <p:txBody>
          <a:bodyPr vert="horz" wrap="square" lIns="0" tIns="889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700"/>
              </a:spcBef>
              <a:defRPr/>
            </a:pPr>
            <a:r>
              <a:rPr sz="1200" dirty="0">
                <a:solidFill>
                  <a:srgbClr val="313A56"/>
                </a:solidFill>
                <a:latin typeface="Trebuchet MS"/>
                <a:cs typeface="Trebuchet MS"/>
              </a:rPr>
              <a:t>Фиксирует события</a:t>
            </a:r>
          </a:p>
        </p:txBody>
      </p:sp>
      <p:grpSp>
        <p:nvGrpSpPr>
          <p:cNvPr id="2" name="object 2"/>
          <p:cNvGrpSpPr/>
          <p:nvPr/>
        </p:nvGrpSpPr>
        <p:grpSpPr>
          <a:xfrm>
            <a:off x="5692140" y="1275588"/>
            <a:ext cx="6499860" cy="4765675"/>
            <a:chOff x="5692140" y="1275588"/>
            <a:chExt cx="6499860" cy="476567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409944" y="1275588"/>
              <a:ext cx="5782056" cy="449122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692140" y="2209800"/>
              <a:ext cx="1943100" cy="3831335"/>
            </a:xfrm>
            <a:prstGeom prst="rect">
              <a:avLst/>
            </a:prstGeom>
          </p:spPr>
        </p:pic>
      </p:grpSp>
      <p:sp>
        <p:nvSpPr>
          <p:cNvPr id="28" name="object 28"/>
          <p:cNvSpPr txBox="1"/>
          <p:nvPr/>
        </p:nvSpPr>
        <p:spPr>
          <a:xfrm>
            <a:off x="672490" y="1253744"/>
            <a:ext cx="506158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40" dirty="0">
                <a:solidFill>
                  <a:srgbClr val="313A56"/>
                </a:solidFill>
                <a:latin typeface="Trebuchet MS"/>
                <a:cs typeface="Trebuchet MS"/>
              </a:rPr>
              <a:t>Единый AI-шлюз между пользователями, приложениями и моделями</a:t>
            </a:r>
          </a:p>
          <a:p>
            <a:pPr marL="12700" algn="just">
              <a:lnSpc>
                <a:spcPct val="100000"/>
              </a:lnSpc>
              <a:defRPr/>
            </a:pPr>
            <a:r>
              <a:rPr sz="1800" dirty="0">
                <a:solidFill>
                  <a:srgbClr val="313A56"/>
                </a:solidFill>
                <a:latin typeface="Trebuchet MS"/>
                <a:cs typeface="Trebuchet MS"/>
              </a:rPr>
              <a:t>Разрешает полезное</a:t>
            </a:r>
          </a:p>
        </p:txBody>
      </p:sp>
      <p:grpSp>
        <p:nvGrpSpPr>
          <p:cNvPr id="16" name="object 16"/>
          <p:cNvGrpSpPr/>
          <p:nvPr/>
        </p:nvGrpSpPr>
        <p:grpSpPr>
          <a:xfrm>
            <a:off x="5836920" y="1533144"/>
            <a:ext cx="6355080" cy="4356100"/>
            <a:chOff x="5836920" y="1533144"/>
            <a:chExt cx="6355080" cy="435610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307580" y="1533144"/>
              <a:ext cx="4884420" cy="3919728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836920" y="2385060"/>
              <a:ext cx="1621535" cy="3503676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  <p:grpSp>
        <p:nvGrpSpPr>
          <p:cNvPr id="21" name="object 21"/>
          <p:cNvGrpSpPr/>
          <p:nvPr/>
        </p:nvGrpSpPr>
        <p:grpSpPr>
          <a:xfrm>
            <a:off x="1756342" y="6153126"/>
            <a:ext cx="469265" cy="228600"/>
            <a:chOff x="1756342" y="6153126"/>
            <a:chExt cx="469265" cy="228600"/>
          </a:xfrm>
        </p:grpSpPr>
        <p:pic>
          <p:nvPicPr>
            <p:cNvPr id="22" name="object 2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756342" y="6153126"/>
              <a:ext cx="228156" cy="22829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997001" y="6154668"/>
              <a:ext cx="228151" cy="225210"/>
            </a:xfrm>
            <a:prstGeom prst="rect">
              <a:avLst/>
            </a:prstGeom>
          </p:spPr>
        </p:pic>
      </p:grpSp>
      <p:pic>
        <p:nvPicPr>
          <p:cNvPr id="24" name="object 24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2273675" y="6183976"/>
            <a:ext cx="809350" cy="204540"/>
          </a:xfrm>
          <a:prstGeom prst="rect">
            <a:avLst/>
          </a:prstGeom>
        </p:spPr>
      </p:pic>
      <p:sp>
        <p:nvSpPr>
          <p:cNvPr id="25" name="object 25"/>
          <p:cNvSpPr/>
          <p:nvPr/>
        </p:nvSpPr>
        <p:spPr>
          <a:xfrm>
            <a:off x="3194038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6" name="object 26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3275299" y="6219454"/>
            <a:ext cx="919633" cy="101807"/>
          </a:xfrm>
          <a:prstGeom prst="rect">
            <a:avLst/>
          </a:prstGeom>
        </p:spPr>
      </p:pic>
      <p:sp>
        <p:nvSpPr>
          <p:cNvPr id="27" name="object 27"/>
          <p:cNvSpPr/>
          <p:nvPr/>
        </p:nvSpPr>
        <p:spPr>
          <a:xfrm>
            <a:off x="4263692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13A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8891" y="5433466"/>
            <a:ext cx="2885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Злоупотребление лимитами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71844" y="557783"/>
            <a:ext cx="5820410" cy="5832475"/>
            <a:chOff x="6371844" y="557783"/>
            <a:chExt cx="5820410" cy="5832475"/>
          </a:xfrm>
        </p:grpSpPr>
        <p:sp>
          <p:nvSpPr>
            <p:cNvPr id="4" name="object 4"/>
            <p:cNvSpPr/>
            <p:nvPr/>
          </p:nvSpPr>
          <p:spPr>
            <a:xfrm>
              <a:off x="6371844" y="557783"/>
              <a:ext cx="5820410" cy="5832475"/>
            </a:xfrm>
            <a:custGeom>
              <a:avLst/>
              <a:gdLst/>
              <a:ahLst/>
              <a:cxnLst/>
              <a:rect l="l" t="t" r="r" b="b"/>
              <a:pathLst>
                <a:path w="5820409" h="5832475">
                  <a:moveTo>
                    <a:pt x="5820156" y="0"/>
                  </a:moveTo>
                  <a:lnTo>
                    <a:pt x="372109" y="0"/>
                  </a:lnTo>
                  <a:lnTo>
                    <a:pt x="325438" y="2899"/>
                  </a:lnTo>
                  <a:lnTo>
                    <a:pt x="280494" y="11366"/>
                  </a:lnTo>
                  <a:lnTo>
                    <a:pt x="237629" y="25050"/>
                  </a:lnTo>
                  <a:lnTo>
                    <a:pt x="197190" y="43603"/>
                  </a:lnTo>
                  <a:lnTo>
                    <a:pt x="159526" y="66676"/>
                  </a:lnTo>
                  <a:lnTo>
                    <a:pt x="124986" y="93920"/>
                  </a:lnTo>
                  <a:lnTo>
                    <a:pt x="93920" y="124986"/>
                  </a:lnTo>
                  <a:lnTo>
                    <a:pt x="66676" y="159526"/>
                  </a:lnTo>
                  <a:lnTo>
                    <a:pt x="43603" y="197190"/>
                  </a:lnTo>
                  <a:lnTo>
                    <a:pt x="25050" y="237629"/>
                  </a:lnTo>
                  <a:lnTo>
                    <a:pt x="11366" y="280494"/>
                  </a:lnTo>
                  <a:lnTo>
                    <a:pt x="2899" y="325438"/>
                  </a:lnTo>
                  <a:lnTo>
                    <a:pt x="0" y="372110"/>
                  </a:lnTo>
                  <a:lnTo>
                    <a:pt x="0" y="5460238"/>
                  </a:lnTo>
                  <a:lnTo>
                    <a:pt x="2899" y="5506914"/>
                  </a:lnTo>
                  <a:lnTo>
                    <a:pt x="11366" y="5551861"/>
                  </a:lnTo>
                  <a:lnTo>
                    <a:pt x="25050" y="5594729"/>
                  </a:lnTo>
                  <a:lnTo>
                    <a:pt x="43603" y="5635169"/>
                  </a:lnTo>
                  <a:lnTo>
                    <a:pt x="66676" y="5672832"/>
                  </a:lnTo>
                  <a:lnTo>
                    <a:pt x="93920" y="5707371"/>
                  </a:lnTo>
                  <a:lnTo>
                    <a:pt x="124986" y="5738436"/>
                  </a:lnTo>
                  <a:lnTo>
                    <a:pt x="159526" y="5765678"/>
                  </a:lnTo>
                  <a:lnTo>
                    <a:pt x="197190" y="5788749"/>
                  </a:lnTo>
                  <a:lnTo>
                    <a:pt x="237629" y="5807300"/>
                  </a:lnTo>
                  <a:lnTo>
                    <a:pt x="280494" y="5820983"/>
                  </a:lnTo>
                  <a:lnTo>
                    <a:pt x="325438" y="5829448"/>
                  </a:lnTo>
                  <a:lnTo>
                    <a:pt x="372109" y="5832348"/>
                  </a:lnTo>
                  <a:lnTo>
                    <a:pt x="5820156" y="5832348"/>
                  </a:lnTo>
                  <a:lnTo>
                    <a:pt x="5820156" y="0"/>
                  </a:lnTo>
                  <a:close/>
                </a:path>
              </a:pathLst>
            </a:custGeom>
            <a:solidFill>
              <a:srgbClr val="DCE3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0340" y="708659"/>
              <a:ext cx="5661659" cy="55275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9372" y="708659"/>
              <a:ext cx="4262628" cy="5527548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3271" tIns="231571" rIns="4464899" bIns="426137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  <a:defRPr/>
            </a:pPr>
            <a:r>
              <a:rPr sz="3600" spc="-10" dirty="0">
                <a:solidFill>
                  <a:srgbClr val="F0F8FD"/>
                </a:solidFill>
              </a:rPr>
              <a:t>Ключевые угрозы</a:t>
            </a:r>
          </a:p>
        </p:txBody>
      </p:sp>
      <p:sp>
        <p:nvSpPr>
          <p:cNvPr id="10" name="object 10"/>
          <p:cNvSpPr/>
          <p:nvPr/>
        </p:nvSpPr>
        <p:spPr>
          <a:xfrm>
            <a:off x="715454" y="2218182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5454" y="2995422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02283" y="2114835"/>
            <a:ext cx="3352165" cy="77724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 dirty="0">
                <a:solidFill>
                  <a:srgbClr val="F0F8FD"/>
                </a:solidFill>
                <a:latin typeface="Trebuchet MS"/>
                <a:cs typeface="Trebuchet MS"/>
              </a:rPr>
              <a:t>Утечки через промпты</a:t>
            </a:r>
          </a:p>
        </p:txBody>
      </p:sp>
      <p:sp>
        <p:nvSpPr>
          <p:cNvPr id="22" name="object 12 — item 2"/>
          <p:cNvSpPr txBox="1"/>
          <p:nvPr/>
        </p:nvSpPr>
        <p:spPr>
          <a:xfrm>
            <a:off x="1002283" y="2892075"/>
            <a:ext cx="3352165" cy="77724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 dirty="0">
                <a:solidFill>
                  <a:srgbClr val="F0F8FD"/>
                </a:solidFill>
                <a:latin typeface="Trebuchet MS"/>
                <a:cs typeface="Trebuchet MS"/>
              </a:rPr>
              <a:t>Личные API-ключи</a:t>
            </a: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756342" y="6153126"/>
            <a:ext cx="469265" cy="228600"/>
            <a:chOff x="1756342" y="6153126"/>
            <a:chExt cx="469265" cy="2286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6342" y="6153126"/>
              <a:ext cx="228156" cy="2282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7001" y="6154668"/>
              <a:ext cx="228151" cy="22521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3194038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63692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652373" y="408178"/>
            <a:ext cx="6588125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  <a:defRPr/>
            </a:pPr>
            <a:r>
              <a:rPr sz="3600" dirty="0">
                <a:solidFill/>
              </a:rPr>
              <a:t>Защитные функции шлюза</a:t>
            </a:r>
          </a:p>
        </p:txBody>
      </p:sp>
      <p:sp>
        <p:nvSpPr>
          <p:cNvPr id="2" name="object 2"/>
          <p:cNvSpPr/>
          <p:nvPr/>
        </p:nvSpPr>
        <p:spPr>
          <a:xfrm>
            <a:off x="696468" y="1810511"/>
            <a:ext cx="3453765" cy="4006850"/>
          </a:xfrm>
          <a:custGeom>
            <a:avLst/>
            <a:gdLst/>
            <a:ahLst/>
            <a:cxnLst/>
            <a:rect l="l" t="t" r="r" b="b"/>
            <a:pathLst>
              <a:path w="3453765" h="4006850">
                <a:moveTo>
                  <a:pt x="3238119" y="0"/>
                </a:moveTo>
                <a:lnTo>
                  <a:pt x="215214" y="0"/>
                </a:lnTo>
                <a:lnTo>
                  <a:pt x="165867" y="5686"/>
                </a:lnTo>
                <a:lnTo>
                  <a:pt x="120568" y="21882"/>
                </a:lnTo>
                <a:lnTo>
                  <a:pt x="80608" y="47296"/>
                </a:lnTo>
                <a:lnTo>
                  <a:pt x="47280" y="80634"/>
                </a:lnTo>
                <a:lnTo>
                  <a:pt x="21874" y="120603"/>
                </a:lnTo>
                <a:lnTo>
                  <a:pt x="5683" y="165911"/>
                </a:lnTo>
                <a:lnTo>
                  <a:pt x="0" y="215264"/>
                </a:lnTo>
                <a:lnTo>
                  <a:pt x="0" y="3791381"/>
                </a:lnTo>
                <a:lnTo>
                  <a:pt x="5683" y="3840728"/>
                </a:lnTo>
                <a:lnTo>
                  <a:pt x="21874" y="3886027"/>
                </a:lnTo>
                <a:lnTo>
                  <a:pt x="47280" y="3925987"/>
                </a:lnTo>
                <a:lnTo>
                  <a:pt x="80608" y="3959315"/>
                </a:lnTo>
                <a:lnTo>
                  <a:pt x="120568" y="3984721"/>
                </a:lnTo>
                <a:lnTo>
                  <a:pt x="165867" y="4000912"/>
                </a:lnTo>
                <a:lnTo>
                  <a:pt x="215214" y="4006596"/>
                </a:lnTo>
                <a:lnTo>
                  <a:pt x="3238119" y="4006596"/>
                </a:lnTo>
                <a:lnTo>
                  <a:pt x="3287472" y="4000912"/>
                </a:lnTo>
                <a:lnTo>
                  <a:pt x="3332780" y="3984721"/>
                </a:lnTo>
                <a:lnTo>
                  <a:pt x="3372749" y="3959315"/>
                </a:lnTo>
                <a:lnTo>
                  <a:pt x="3406087" y="3925987"/>
                </a:lnTo>
                <a:lnTo>
                  <a:pt x="3431501" y="3886027"/>
                </a:lnTo>
                <a:lnTo>
                  <a:pt x="3447697" y="3840728"/>
                </a:lnTo>
                <a:lnTo>
                  <a:pt x="3453383" y="3791381"/>
                </a:lnTo>
                <a:lnTo>
                  <a:pt x="3453383" y="215264"/>
                </a:lnTo>
                <a:lnTo>
                  <a:pt x="3447697" y="165911"/>
                </a:lnTo>
                <a:lnTo>
                  <a:pt x="3431501" y="120603"/>
                </a:lnTo>
                <a:lnTo>
                  <a:pt x="3406087" y="80634"/>
                </a:lnTo>
                <a:lnTo>
                  <a:pt x="3372749" y="47296"/>
                </a:lnTo>
                <a:lnTo>
                  <a:pt x="3332780" y="21882"/>
                </a:lnTo>
                <a:lnTo>
                  <a:pt x="3287472" y="5686"/>
                </a:lnTo>
                <a:lnTo>
                  <a:pt x="323811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972718" y="2042540"/>
            <a:ext cx="216979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0" dirty="0">
                <a:solidFill>
                  <a:srgbClr val="313A56"/>
                </a:solidFill>
                <a:latin typeface="Trebuchet MS"/>
                <a:cs typeface="Trebuchet MS"/>
              </a:rPr>
              <a:t>Анализ запроса</a:t>
            </a:r>
          </a:p>
        </p:txBody>
      </p:sp>
      <p:sp>
        <p:nvSpPr>
          <p:cNvPr id="4" name="object 4"/>
          <p:cNvSpPr/>
          <p:nvPr/>
        </p:nvSpPr>
        <p:spPr>
          <a:xfrm>
            <a:off x="4370832" y="1810511"/>
            <a:ext cx="3456940" cy="4006850"/>
          </a:xfrm>
          <a:custGeom>
            <a:avLst/>
            <a:gdLst/>
            <a:ahLst/>
            <a:cxnLst/>
            <a:rect l="l" t="t" r="r" b="b"/>
            <a:pathLst>
              <a:path w="3456940" h="4006850">
                <a:moveTo>
                  <a:pt x="3241166" y="0"/>
                </a:moveTo>
                <a:lnTo>
                  <a:pt x="215264" y="0"/>
                </a:lnTo>
                <a:lnTo>
                  <a:pt x="165911" y="5686"/>
                </a:lnTo>
                <a:lnTo>
                  <a:pt x="120603" y="21882"/>
                </a:lnTo>
                <a:lnTo>
                  <a:pt x="80634" y="47296"/>
                </a:lnTo>
                <a:lnTo>
                  <a:pt x="47296" y="80634"/>
                </a:lnTo>
                <a:lnTo>
                  <a:pt x="21882" y="120603"/>
                </a:lnTo>
                <a:lnTo>
                  <a:pt x="5686" y="165911"/>
                </a:lnTo>
                <a:lnTo>
                  <a:pt x="0" y="215264"/>
                </a:lnTo>
                <a:lnTo>
                  <a:pt x="0" y="3791330"/>
                </a:lnTo>
                <a:lnTo>
                  <a:pt x="5686" y="3840688"/>
                </a:lnTo>
                <a:lnTo>
                  <a:pt x="21882" y="3885997"/>
                </a:lnTo>
                <a:lnTo>
                  <a:pt x="47296" y="3925967"/>
                </a:lnTo>
                <a:lnTo>
                  <a:pt x="80634" y="3959303"/>
                </a:lnTo>
                <a:lnTo>
                  <a:pt x="120603" y="3984715"/>
                </a:lnTo>
                <a:lnTo>
                  <a:pt x="165911" y="4000910"/>
                </a:lnTo>
                <a:lnTo>
                  <a:pt x="215264" y="4006596"/>
                </a:lnTo>
                <a:lnTo>
                  <a:pt x="3241166" y="4006596"/>
                </a:lnTo>
                <a:lnTo>
                  <a:pt x="3290520" y="4000910"/>
                </a:lnTo>
                <a:lnTo>
                  <a:pt x="3335828" y="3984715"/>
                </a:lnTo>
                <a:lnTo>
                  <a:pt x="3375797" y="3959303"/>
                </a:lnTo>
                <a:lnTo>
                  <a:pt x="3409135" y="3925967"/>
                </a:lnTo>
                <a:lnTo>
                  <a:pt x="3434549" y="3885997"/>
                </a:lnTo>
                <a:lnTo>
                  <a:pt x="3450745" y="3840688"/>
                </a:lnTo>
                <a:lnTo>
                  <a:pt x="3456432" y="3791330"/>
                </a:lnTo>
                <a:lnTo>
                  <a:pt x="3456432" y="215264"/>
                </a:lnTo>
                <a:lnTo>
                  <a:pt x="3450745" y="165911"/>
                </a:lnTo>
                <a:lnTo>
                  <a:pt x="3434549" y="120603"/>
                </a:lnTo>
                <a:lnTo>
                  <a:pt x="3409135" y="80634"/>
                </a:lnTo>
                <a:lnTo>
                  <a:pt x="3375797" y="47296"/>
                </a:lnTo>
                <a:lnTo>
                  <a:pt x="3335828" y="21882"/>
                </a:lnTo>
                <a:lnTo>
                  <a:pt x="3290520" y="5686"/>
                </a:lnTo>
                <a:lnTo>
                  <a:pt x="32411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4648580" y="2042540"/>
            <a:ext cx="22802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40" dirty="0">
                <a:solidFill>
                  <a:srgbClr val="313A56"/>
                </a:solidFill>
                <a:latin typeface="Trebuchet MS"/>
                <a:cs typeface="Trebuchet MS"/>
              </a:rPr>
              <a:t>Анализ ответа</a:t>
            </a:r>
          </a:p>
        </p:txBody>
      </p:sp>
      <p:sp>
        <p:nvSpPr>
          <p:cNvPr id="7" name="object 7"/>
          <p:cNvSpPr/>
          <p:nvPr/>
        </p:nvSpPr>
        <p:spPr>
          <a:xfrm>
            <a:off x="1015238" y="4004564"/>
            <a:ext cx="86360" cy="1221740"/>
          </a:xfrm>
          <a:custGeom>
            <a:avLst/>
            <a:gdLst/>
            <a:ahLst/>
            <a:cxnLst/>
            <a:rect l="l" t="t" r="r" b="b"/>
            <a:pathLst>
              <a:path w="86359" h="1221739">
                <a:moveTo>
                  <a:pt x="0" y="35813"/>
                </a:moveTo>
                <a:lnTo>
                  <a:pt x="33972" y="78359"/>
                </a:lnTo>
                <a:lnTo>
                  <a:pt x="85852" y="0"/>
                </a:lnTo>
              </a:path>
              <a:path w="86359" h="1221739">
                <a:moveTo>
                  <a:pt x="0" y="294894"/>
                </a:moveTo>
                <a:lnTo>
                  <a:pt x="33972" y="337438"/>
                </a:lnTo>
                <a:lnTo>
                  <a:pt x="85852" y="259080"/>
                </a:lnTo>
              </a:path>
              <a:path w="86359" h="1221739">
                <a:moveTo>
                  <a:pt x="0" y="553974"/>
                </a:moveTo>
                <a:lnTo>
                  <a:pt x="33972" y="596519"/>
                </a:lnTo>
                <a:lnTo>
                  <a:pt x="85852" y="518160"/>
                </a:lnTo>
              </a:path>
              <a:path w="86359" h="1221739">
                <a:moveTo>
                  <a:pt x="0" y="1178814"/>
                </a:moveTo>
                <a:lnTo>
                  <a:pt x="33972" y="1221359"/>
                </a:lnTo>
                <a:lnTo>
                  <a:pt x="85852" y="1143000"/>
                </a:lnTo>
              </a:path>
            </a:pathLst>
          </a:custGeom>
          <a:ln w="19756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046719" y="1810511"/>
            <a:ext cx="3456940" cy="4006850"/>
          </a:xfrm>
          <a:custGeom>
            <a:avLst/>
            <a:gdLst/>
            <a:ahLst/>
            <a:cxnLst/>
            <a:rect l="l" t="t" r="r" b="b"/>
            <a:pathLst>
              <a:path w="3456940" h="4006850">
                <a:moveTo>
                  <a:pt x="3253866" y="0"/>
                </a:moveTo>
                <a:lnTo>
                  <a:pt x="202564" y="0"/>
                </a:lnTo>
                <a:lnTo>
                  <a:pt x="156114" y="5349"/>
                </a:lnTo>
                <a:lnTo>
                  <a:pt x="113476" y="20586"/>
                </a:lnTo>
                <a:lnTo>
                  <a:pt x="75865" y="44497"/>
                </a:lnTo>
                <a:lnTo>
                  <a:pt x="44497" y="75865"/>
                </a:lnTo>
                <a:lnTo>
                  <a:pt x="20586" y="113476"/>
                </a:lnTo>
                <a:lnTo>
                  <a:pt x="5349" y="156114"/>
                </a:lnTo>
                <a:lnTo>
                  <a:pt x="0" y="202564"/>
                </a:lnTo>
                <a:lnTo>
                  <a:pt x="0" y="3804018"/>
                </a:lnTo>
                <a:lnTo>
                  <a:pt x="5349" y="3850465"/>
                </a:lnTo>
                <a:lnTo>
                  <a:pt x="20586" y="3893104"/>
                </a:lnTo>
                <a:lnTo>
                  <a:pt x="44497" y="3930717"/>
                </a:lnTo>
                <a:lnTo>
                  <a:pt x="75865" y="3962089"/>
                </a:lnTo>
                <a:lnTo>
                  <a:pt x="113476" y="3986004"/>
                </a:lnTo>
                <a:lnTo>
                  <a:pt x="156114" y="4001245"/>
                </a:lnTo>
                <a:lnTo>
                  <a:pt x="202564" y="4006596"/>
                </a:lnTo>
                <a:lnTo>
                  <a:pt x="3253866" y="4006596"/>
                </a:lnTo>
                <a:lnTo>
                  <a:pt x="3300317" y="4001245"/>
                </a:lnTo>
                <a:lnTo>
                  <a:pt x="3342955" y="3986004"/>
                </a:lnTo>
                <a:lnTo>
                  <a:pt x="3380566" y="3962089"/>
                </a:lnTo>
                <a:lnTo>
                  <a:pt x="3411934" y="3930717"/>
                </a:lnTo>
                <a:lnTo>
                  <a:pt x="3435845" y="3893104"/>
                </a:lnTo>
                <a:lnTo>
                  <a:pt x="3451082" y="3850465"/>
                </a:lnTo>
                <a:lnTo>
                  <a:pt x="3456431" y="3804018"/>
                </a:lnTo>
                <a:lnTo>
                  <a:pt x="3456431" y="202564"/>
                </a:lnTo>
                <a:lnTo>
                  <a:pt x="3451082" y="156114"/>
                </a:lnTo>
                <a:lnTo>
                  <a:pt x="3435845" y="113476"/>
                </a:lnTo>
                <a:lnTo>
                  <a:pt x="3411934" y="75865"/>
                </a:lnTo>
                <a:lnTo>
                  <a:pt x="3380566" y="44497"/>
                </a:lnTo>
                <a:lnTo>
                  <a:pt x="3342955" y="20586"/>
                </a:lnTo>
                <a:lnTo>
                  <a:pt x="3300317" y="5349"/>
                </a:lnTo>
                <a:lnTo>
                  <a:pt x="325386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 txBox="1"/>
          <p:nvPr/>
        </p:nvSpPr>
        <p:spPr>
          <a:xfrm>
            <a:off x="8324468" y="2042540"/>
            <a:ext cx="23577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800" dirty="0">
                <a:solidFill>
                  <a:srgbClr val="313A56"/>
                </a:solidFill>
                <a:latin typeface="Trebuchet MS"/>
                <a:cs typeface="Trebuchet MS"/>
              </a:rPr>
              <a:t>DLP для промптов</a:t>
            </a:r>
          </a:p>
        </p:txBody>
      </p:sp>
      <p:sp>
        <p:nvSpPr>
          <p:cNvPr id="15" name="object 15"/>
          <p:cNvSpPr txBox="1"/>
          <p:nvPr/>
        </p:nvSpPr>
        <p:spPr>
          <a:xfrm>
            <a:off x="977290" y="2974340"/>
            <a:ext cx="27393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22605">
              <a:lnSpc>
                <a:spcPct val="100000"/>
              </a:lnSpc>
              <a:spcBef>
                <a:spcPts val="100"/>
              </a:spcBef>
              <a:defRPr/>
            </a:pPr>
            <a:r>
              <a:rPr sz="1200" dirty="0">
                <a:solidFill>
                  <a:srgbClr val="666666"/>
                </a:solidFill>
                <a:latin typeface="Trebuchet MS"/>
                <a:cs typeface="Trebuchet MS"/>
              </a:rPr>
              <a:t>Маскирование данных</a:t>
            </a:r>
          </a:p>
          <a:p>
            <a:pPr marL="12700">
              <a:lnSpc>
                <a:spcPct val="100000"/>
              </a:lnSpc>
              <a:defRPr/>
            </a:pPr>
            <a:r>
              <a:rPr sz="1200" spc="-10" dirty="0">
                <a:solidFill>
                  <a:srgbClr val="666666"/>
                </a:solidFill>
                <a:latin typeface="Trebuchet MS"/>
                <a:cs typeface="Trebuchet MS"/>
              </a:rPr>
              <a:t>Маршрутизация моделей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4653788" y="2974340"/>
            <a:ext cx="23310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  <a:defRPr/>
            </a:pPr>
            <a:r>
              <a:rPr sz="1200" dirty="0">
                <a:solidFill>
                  <a:srgbClr val="666666"/>
                </a:solidFill>
                <a:latin typeface="Trebuchet MS"/>
                <a:cs typeface="Trebuchet MS"/>
              </a:rPr>
              <a:t>Оценка риска запроса и ответа на каждом этапе</a:t>
            </a:r>
          </a:p>
        </p:txBody>
      </p:sp>
      <p:sp>
        <p:nvSpPr>
          <p:cNvPr id="13" name="object 13"/>
          <p:cNvSpPr/>
          <p:nvPr/>
        </p:nvSpPr>
        <p:spPr>
          <a:xfrm>
            <a:off x="4690236" y="4004564"/>
            <a:ext cx="86360" cy="1404620"/>
          </a:xfrm>
          <a:custGeom>
            <a:avLst/>
            <a:gdLst/>
            <a:ahLst/>
            <a:cxnLst/>
            <a:rect l="l" t="t" r="r" b="b"/>
            <a:pathLst>
              <a:path w="86360" h="1404620">
                <a:moveTo>
                  <a:pt x="0" y="35813"/>
                </a:moveTo>
                <a:lnTo>
                  <a:pt x="33909" y="78359"/>
                </a:lnTo>
                <a:lnTo>
                  <a:pt x="85851" y="0"/>
                </a:lnTo>
              </a:path>
              <a:path w="86360" h="1404620">
                <a:moveTo>
                  <a:pt x="0" y="660654"/>
                </a:moveTo>
                <a:lnTo>
                  <a:pt x="33909" y="703199"/>
                </a:lnTo>
                <a:lnTo>
                  <a:pt x="85851" y="624840"/>
                </a:lnTo>
              </a:path>
              <a:path w="86360" h="1404620">
                <a:moveTo>
                  <a:pt x="0" y="1102614"/>
                </a:moveTo>
                <a:lnTo>
                  <a:pt x="33909" y="1145159"/>
                </a:lnTo>
                <a:lnTo>
                  <a:pt x="85851" y="1066800"/>
                </a:lnTo>
              </a:path>
              <a:path w="86360" h="1404620">
                <a:moveTo>
                  <a:pt x="0" y="1361694"/>
                </a:moveTo>
                <a:lnTo>
                  <a:pt x="33909" y="1404239"/>
                </a:lnTo>
                <a:lnTo>
                  <a:pt x="85851" y="1325880"/>
                </a:lnTo>
              </a:path>
            </a:pathLst>
          </a:custGeom>
          <a:ln w="19756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8367521" y="4004564"/>
            <a:ext cx="86360" cy="1297940"/>
          </a:xfrm>
          <a:custGeom>
            <a:avLst/>
            <a:gdLst/>
            <a:ahLst/>
            <a:cxnLst/>
            <a:rect l="l" t="t" r="r" b="b"/>
            <a:pathLst>
              <a:path w="86359" h="1297939">
                <a:moveTo>
                  <a:pt x="0" y="35813"/>
                </a:moveTo>
                <a:lnTo>
                  <a:pt x="33908" y="78359"/>
                </a:lnTo>
                <a:lnTo>
                  <a:pt x="85851" y="0"/>
                </a:lnTo>
              </a:path>
              <a:path w="86359" h="1297939">
                <a:moveTo>
                  <a:pt x="0" y="294894"/>
                </a:moveTo>
                <a:lnTo>
                  <a:pt x="33908" y="337438"/>
                </a:lnTo>
                <a:lnTo>
                  <a:pt x="85851" y="259080"/>
                </a:lnTo>
              </a:path>
              <a:path w="86359" h="1297939">
                <a:moveTo>
                  <a:pt x="0" y="553974"/>
                </a:moveTo>
                <a:lnTo>
                  <a:pt x="33908" y="596519"/>
                </a:lnTo>
                <a:lnTo>
                  <a:pt x="85851" y="518160"/>
                </a:lnTo>
              </a:path>
              <a:path w="86359" h="1297939">
                <a:moveTo>
                  <a:pt x="0" y="995934"/>
                </a:moveTo>
                <a:lnTo>
                  <a:pt x="33908" y="1038479"/>
                </a:lnTo>
                <a:lnTo>
                  <a:pt x="85851" y="960119"/>
                </a:lnTo>
              </a:path>
              <a:path w="86359" h="1297939">
                <a:moveTo>
                  <a:pt x="0" y="1255014"/>
                </a:moveTo>
                <a:lnTo>
                  <a:pt x="33908" y="1297559"/>
                </a:lnTo>
                <a:lnTo>
                  <a:pt x="85851" y="1219200"/>
                </a:lnTo>
              </a:path>
            </a:pathLst>
          </a:custGeom>
          <a:ln w="19756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8" name="object 1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65784" y="412241"/>
            <a:ext cx="5481320" cy="1068070"/>
          </a:xfrm>
          <a:prstGeom prst="rect">
            <a:avLst/>
          </a:prstGeom>
        </p:spPr>
        <p:txBody>
          <a:bodyPr vert="horz" wrap="square" lIns="0" tIns="74295" rIns="0" bIns="0" rtlCol="0">
            <a:spAutoFit/>
          </a:bodyPr>
          <a:lstStyle/>
          <a:p>
            <a:pPr marL="12700" marR="5080">
              <a:lnSpc>
                <a:spcPts val="3890"/>
              </a:lnSpc>
              <a:spcBef>
                <a:spcPts val="585"/>
              </a:spcBef>
              <a:defRPr/>
            </a:pPr>
            <a:r>
              <a:rPr sz="3600" spc="105" dirty="0">
                <a:solidFill/>
              </a:rPr>
              <a:t>Базовый функционал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473835" y="1937080"/>
            <a:ext cx="103251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 dirty="0">
                <a:solidFill>
                  <a:srgbClr val="313A56"/>
                </a:solidFill>
                <a:latin typeface="Trebuchet MS"/>
                <a:cs typeface="Trebuchet MS"/>
              </a:rPr>
              <a:t>Вход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10" dirty="0">
                <a:solidFill>
                  <a:srgbClr val="313A56"/>
                </a:solidFill>
                <a:latin typeface="Trebuchet MS"/>
                <a:cs typeface="Trebuchet MS"/>
              </a:rPr>
              <a:t>Модели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5277992" y="1937080"/>
            <a:ext cx="131762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 dirty="0">
                <a:solidFill>
                  <a:srgbClr val="313A56"/>
                </a:solidFill>
                <a:latin typeface="Trebuchet MS"/>
                <a:cs typeface="Trebuchet MS"/>
              </a:rPr>
              <a:t>Политики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spc="-10" dirty="0">
                <a:solidFill>
                  <a:srgbClr val="313A56"/>
                </a:solidFill>
                <a:latin typeface="Trebuchet MS"/>
                <a:cs typeface="Trebuchet MS"/>
              </a:rPr>
              <a:t>Лимиты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9359900" y="1937080"/>
            <a:ext cx="2199005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-10" dirty="0">
                <a:solidFill>
                  <a:srgbClr val="313A56"/>
                </a:solidFill>
                <a:latin typeface="Trebuchet MS"/>
                <a:cs typeface="Trebuchet MS"/>
              </a:rPr>
              <a:t>Журнал</a:t>
            </a:r>
          </a:p>
          <a:p>
            <a:pPr marL="12700">
              <a:lnSpc>
                <a:spcPct val="100000"/>
              </a:lnSpc>
              <a:spcBef>
                <a:spcPts val="5"/>
              </a:spcBef>
              <a:defRPr/>
            </a:pPr>
            <a:r>
              <a:rPr sz="1800" dirty="0">
                <a:solidFill>
                  <a:srgbClr val="313A56"/>
                </a:solidFill>
                <a:latin typeface="Trebuchet MS"/>
                <a:cs typeface="Trebuchet MS"/>
              </a:rPr>
              <a:t>API, моб.</a:t>
            </a:r>
          </a:p>
        </p:txBody>
      </p:sp>
      <p:sp>
        <p:nvSpPr>
          <p:cNvPr id="20" name="object 20"/>
          <p:cNvSpPr/>
          <p:nvPr/>
        </p:nvSpPr>
        <p:spPr>
          <a:xfrm>
            <a:off x="8660892" y="2991611"/>
            <a:ext cx="439420" cy="300355"/>
          </a:xfrm>
          <a:custGeom>
            <a:avLst/>
            <a:gdLst/>
            <a:ahLst/>
            <a:cxnLst/>
            <a:rect l="l" t="t" r="r" b="b"/>
            <a:pathLst>
              <a:path w="439420" h="300354">
                <a:moveTo>
                  <a:pt x="219455" y="0"/>
                </a:moveTo>
                <a:lnTo>
                  <a:pt x="153368" y="8890"/>
                </a:lnTo>
                <a:lnTo>
                  <a:pt x="91948" y="34925"/>
                </a:lnTo>
                <a:lnTo>
                  <a:pt x="39592" y="76295"/>
                </a:lnTo>
                <a:lnTo>
                  <a:pt x="0" y="130048"/>
                </a:lnTo>
                <a:lnTo>
                  <a:pt x="0" y="170179"/>
                </a:lnTo>
                <a:lnTo>
                  <a:pt x="39655" y="223932"/>
                </a:lnTo>
                <a:lnTo>
                  <a:pt x="92075" y="265302"/>
                </a:lnTo>
                <a:lnTo>
                  <a:pt x="153384" y="291338"/>
                </a:lnTo>
                <a:lnTo>
                  <a:pt x="219455" y="300227"/>
                </a:lnTo>
                <a:lnTo>
                  <a:pt x="252860" y="297985"/>
                </a:lnTo>
                <a:lnTo>
                  <a:pt x="317003" y="280404"/>
                </a:lnTo>
                <a:lnTo>
                  <a:pt x="374475" y="246332"/>
                </a:lnTo>
                <a:lnTo>
                  <a:pt x="402401" y="220217"/>
                </a:lnTo>
                <a:lnTo>
                  <a:pt x="219455" y="220217"/>
                </a:lnTo>
                <a:lnTo>
                  <a:pt x="184530" y="213129"/>
                </a:lnTo>
                <a:lnTo>
                  <a:pt x="155987" y="193801"/>
                </a:lnTo>
                <a:lnTo>
                  <a:pt x="136731" y="165139"/>
                </a:lnTo>
                <a:lnTo>
                  <a:pt x="129666" y="130048"/>
                </a:lnTo>
                <a:lnTo>
                  <a:pt x="136731" y="95029"/>
                </a:lnTo>
                <a:lnTo>
                  <a:pt x="155987" y="66405"/>
                </a:lnTo>
                <a:lnTo>
                  <a:pt x="184530" y="47091"/>
                </a:lnTo>
                <a:lnTo>
                  <a:pt x="219455" y="40004"/>
                </a:lnTo>
                <a:lnTo>
                  <a:pt x="354359" y="40004"/>
                </a:lnTo>
                <a:lnTo>
                  <a:pt x="346963" y="34925"/>
                </a:lnTo>
                <a:lnTo>
                  <a:pt x="317057" y="19823"/>
                </a:lnTo>
                <a:lnTo>
                  <a:pt x="285543" y="8890"/>
                </a:lnTo>
                <a:lnTo>
                  <a:pt x="252862" y="2242"/>
                </a:lnTo>
                <a:lnTo>
                  <a:pt x="219455" y="0"/>
                </a:lnTo>
                <a:close/>
              </a:path>
              <a:path w="439420" h="300354">
                <a:moveTo>
                  <a:pt x="354359" y="40004"/>
                </a:moveTo>
                <a:lnTo>
                  <a:pt x="219455" y="40004"/>
                </a:lnTo>
                <a:lnTo>
                  <a:pt x="254380" y="47091"/>
                </a:lnTo>
                <a:lnTo>
                  <a:pt x="282924" y="66405"/>
                </a:lnTo>
                <a:lnTo>
                  <a:pt x="302180" y="95029"/>
                </a:lnTo>
                <a:lnTo>
                  <a:pt x="309244" y="130048"/>
                </a:lnTo>
                <a:lnTo>
                  <a:pt x="302180" y="165139"/>
                </a:lnTo>
                <a:lnTo>
                  <a:pt x="282924" y="193801"/>
                </a:lnTo>
                <a:lnTo>
                  <a:pt x="254380" y="213129"/>
                </a:lnTo>
                <a:lnTo>
                  <a:pt x="219455" y="220217"/>
                </a:lnTo>
                <a:lnTo>
                  <a:pt x="402401" y="220217"/>
                </a:lnTo>
                <a:lnTo>
                  <a:pt x="420846" y="198437"/>
                </a:lnTo>
                <a:lnTo>
                  <a:pt x="438911" y="170179"/>
                </a:lnTo>
                <a:lnTo>
                  <a:pt x="438911" y="130048"/>
                </a:lnTo>
                <a:lnTo>
                  <a:pt x="420866" y="101790"/>
                </a:lnTo>
                <a:lnTo>
                  <a:pt x="399319" y="76295"/>
                </a:lnTo>
                <a:lnTo>
                  <a:pt x="374582" y="53895"/>
                </a:lnTo>
                <a:lnTo>
                  <a:pt x="354359" y="40004"/>
                </a:lnTo>
                <a:close/>
              </a:path>
            </a:pathLst>
          </a:custGeom>
          <a:solidFill>
            <a:srgbClr val="FF6C52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8659368" y="3954779"/>
            <a:ext cx="440690" cy="300355"/>
            <a:chOff x="8659368" y="3954779"/>
            <a:chExt cx="440690" cy="300355"/>
          </a:xfrm>
        </p:grpSpPr>
        <p:sp>
          <p:nvSpPr>
            <p:cNvPr id="27" name="object 27"/>
            <p:cNvSpPr/>
            <p:nvPr/>
          </p:nvSpPr>
          <p:spPr>
            <a:xfrm>
              <a:off x="8659368" y="3954779"/>
              <a:ext cx="307975" cy="300355"/>
            </a:xfrm>
            <a:custGeom>
              <a:avLst/>
              <a:gdLst/>
              <a:ahLst/>
              <a:cxnLst/>
              <a:rect l="l" t="t" r="r" b="b"/>
              <a:pathLst>
                <a:path w="307975" h="300354">
                  <a:moveTo>
                    <a:pt x="205104" y="93853"/>
                  </a:moveTo>
                  <a:lnTo>
                    <a:pt x="102615" y="93853"/>
                  </a:lnTo>
                  <a:lnTo>
                    <a:pt x="62632" y="101965"/>
                  </a:lnTo>
                  <a:lnTo>
                    <a:pt x="30019" y="124079"/>
                  </a:lnTo>
                  <a:lnTo>
                    <a:pt x="8050" y="156860"/>
                  </a:lnTo>
                  <a:lnTo>
                    <a:pt x="0" y="196977"/>
                  </a:lnTo>
                  <a:lnTo>
                    <a:pt x="8050" y="237166"/>
                  </a:lnTo>
                  <a:lnTo>
                    <a:pt x="30019" y="269986"/>
                  </a:lnTo>
                  <a:lnTo>
                    <a:pt x="62632" y="292113"/>
                  </a:lnTo>
                  <a:lnTo>
                    <a:pt x="102615" y="300228"/>
                  </a:lnTo>
                  <a:lnTo>
                    <a:pt x="205104" y="300228"/>
                  </a:lnTo>
                  <a:lnTo>
                    <a:pt x="245108" y="292113"/>
                  </a:lnTo>
                  <a:lnTo>
                    <a:pt x="277764" y="269986"/>
                  </a:lnTo>
                  <a:lnTo>
                    <a:pt x="282694" y="262636"/>
                  </a:lnTo>
                  <a:lnTo>
                    <a:pt x="102615" y="262636"/>
                  </a:lnTo>
                  <a:lnTo>
                    <a:pt x="77180" y="257484"/>
                  </a:lnTo>
                  <a:lnTo>
                    <a:pt x="56387" y="243427"/>
                  </a:lnTo>
                  <a:lnTo>
                    <a:pt x="42358" y="222559"/>
                  </a:lnTo>
                  <a:lnTo>
                    <a:pt x="37210" y="196977"/>
                  </a:lnTo>
                  <a:lnTo>
                    <a:pt x="42358" y="171448"/>
                  </a:lnTo>
                  <a:lnTo>
                    <a:pt x="56387" y="150574"/>
                  </a:lnTo>
                  <a:lnTo>
                    <a:pt x="77180" y="136487"/>
                  </a:lnTo>
                  <a:lnTo>
                    <a:pt x="102615" y="131318"/>
                  </a:lnTo>
                  <a:lnTo>
                    <a:pt x="282625" y="131318"/>
                  </a:lnTo>
                  <a:lnTo>
                    <a:pt x="277764" y="124079"/>
                  </a:lnTo>
                  <a:lnTo>
                    <a:pt x="245108" y="101965"/>
                  </a:lnTo>
                  <a:lnTo>
                    <a:pt x="205104" y="93853"/>
                  </a:lnTo>
                  <a:close/>
                </a:path>
                <a:path w="307975" h="300354">
                  <a:moveTo>
                    <a:pt x="168782" y="150114"/>
                  </a:moveTo>
                  <a:lnTo>
                    <a:pt x="123062" y="150114"/>
                  </a:lnTo>
                  <a:lnTo>
                    <a:pt x="138922" y="172995"/>
                  </a:lnTo>
                  <a:lnTo>
                    <a:pt x="160210" y="190769"/>
                  </a:lnTo>
                  <a:lnTo>
                    <a:pt x="185785" y="202281"/>
                  </a:lnTo>
                  <a:lnTo>
                    <a:pt x="214502" y="206375"/>
                  </a:lnTo>
                  <a:lnTo>
                    <a:pt x="269748" y="206375"/>
                  </a:lnTo>
                  <a:lnTo>
                    <a:pt x="262362" y="228613"/>
                  </a:lnTo>
                  <a:lnTo>
                    <a:pt x="248094" y="246459"/>
                  </a:lnTo>
                  <a:lnTo>
                    <a:pt x="228492" y="258327"/>
                  </a:lnTo>
                  <a:lnTo>
                    <a:pt x="205104" y="262636"/>
                  </a:lnTo>
                  <a:lnTo>
                    <a:pt x="282694" y="262636"/>
                  </a:lnTo>
                  <a:lnTo>
                    <a:pt x="299777" y="237166"/>
                  </a:lnTo>
                  <a:lnTo>
                    <a:pt x="307848" y="196977"/>
                  </a:lnTo>
                  <a:lnTo>
                    <a:pt x="302201" y="168910"/>
                  </a:lnTo>
                  <a:lnTo>
                    <a:pt x="214502" y="168910"/>
                  </a:lnTo>
                  <a:lnTo>
                    <a:pt x="201519" y="167598"/>
                  </a:lnTo>
                  <a:lnTo>
                    <a:pt x="189404" y="163845"/>
                  </a:lnTo>
                  <a:lnTo>
                    <a:pt x="178409" y="157926"/>
                  </a:lnTo>
                  <a:lnTo>
                    <a:pt x="168782" y="150114"/>
                  </a:lnTo>
                  <a:close/>
                </a:path>
                <a:path w="307975" h="300354">
                  <a:moveTo>
                    <a:pt x="282625" y="131318"/>
                  </a:moveTo>
                  <a:lnTo>
                    <a:pt x="205104" y="131318"/>
                  </a:lnTo>
                  <a:lnTo>
                    <a:pt x="223906" y="134066"/>
                  </a:lnTo>
                  <a:lnTo>
                    <a:pt x="240553" y="141779"/>
                  </a:lnTo>
                  <a:lnTo>
                    <a:pt x="254271" y="153660"/>
                  </a:lnTo>
                  <a:lnTo>
                    <a:pt x="264286" y="168910"/>
                  </a:lnTo>
                  <a:lnTo>
                    <a:pt x="302201" y="168910"/>
                  </a:lnTo>
                  <a:lnTo>
                    <a:pt x="299777" y="156860"/>
                  </a:lnTo>
                  <a:lnTo>
                    <a:pt x="282625" y="131318"/>
                  </a:lnTo>
                  <a:close/>
                </a:path>
                <a:path w="307975" h="300354">
                  <a:moveTo>
                    <a:pt x="242442" y="0"/>
                  </a:moveTo>
                  <a:lnTo>
                    <a:pt x="214502" y="0"/>
                  </a:lnTo>
                  <a:lnTo>
                    <a:pt x="176599" y="7270"/>
                  </a:lnTo>
                  <a:lnTo>
                    <a:pt x="145113" y="27209"/>
                  </a:lnTo>
                  <a:lnTo>
                    <a:pt x="122795" y="57007"/>
                  </a:lnTo>
                  <a:lnTo>
                    <a:pt x="112395" y="93853"/>
                  </a:lnTo>
                  <a:lnTo>
                    <a:pt x="149859" y="93853"/>
                  </a:lnTo>
                  <a:lnTo>
                    <a:pt x="157263" y="71614"/>
                  </a:lnTo>
                  <a:lnTo>
                    <a:pt x="171561" y="53768"/>
                  </a:lnTo>
                  <a:lnTo>
                    <a:pt x="191168" y="41900"/>
                  </a:lnTo>
                  <a:lnTo>
                    <a:pt x="214502" y="37592"/>
                  </a:lnTo>
                  <a:lnTo>
                    <a:pt x="242442" y="37592"/>
                  </a:lnTo>
                  <a:lnTo>
                    <a:pt x="242442" y="0"/>
                  </a:lnTo>
                  <a:close/>
                </a:path>
              </a:pathLst>
            </a:custGeom>
            <a:solidFill>
              <a:srgbClr val="FF6C5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8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8932164" y="3978973"/>
              <a:ext cx="167814" cy="212026"/>
            </a:xfrm>
            <a:prstGeom prst="rect">
              <a:avLst/>
            </a:prstGeom>
          </p:spPr>
        </p:pic>
      </p:grpSp>
      <p:sp>
        <p:nvSpPr>
          <p:cNvPr id="14" name="object 14"/>
          <p:cNvSpPr/>
          <p:nvPr/>
        </p:nvSpPr>
        <p:spPr>
          <a:xfrm>
            <a:off x="8680704" y="4931664"/>
            <a:ext cx="399415" cy="443865"/>
          </a:xfrm>
          <a:custGeom>
            <a:avLst/>
            <a:gdLst/>
            <a:ahLst/>
            <a:cxnLst/>
            <a:rect l="l" t="t" r="r" b="b"/>
            <a:pathLst>
              <a:path w="399415" h="443864">
                <a:moveTo>
                  <a:pt x="44450" y="0"/>
                </a:moveTo>
                <a:lnTo>
                  <a:pt x="18752" y="30864"/>
                </a:lnTo>
                <a:lnTo>
                  <a:pt x="3472" y="119614"/>
                </a:lnTo>
                <a:lnTo>
                  <a:pt x="0" y="177419"/>
                </a:lnTo>
                <a:lnTo>
                  <a:pt x="3577" y="233299"/>
                </a:lnTo>
                <a:lnTo>
                  <a:pt x="14047" y="284303"/>
                </a:lnTo>
                <a:lnTo>
                  <a:pt x="31015" y="329636"/>
                </a:lnTo>
                <a:lnTo>
                  <a:pt x="54086" y="368506"/>
                </a:lnTo>
                <a:lnTo>
                  <a:pt x="82866" y="400119"/>
                </a:lnTo>
                <a:lnTo>
                  <a:pt x="116961" y="423681"/>
                </a:lnTo>
                <a:lnTo>
                  <a:pt x="155976" y="438401"/>
                </a:lnTo>
                <a:lnTo>
                  <a:pt x="199517" y="443484"/>
                </a:lnTo>
                <a:lnTo>
                  <a:pt x="243141" y="438401"/>
                </a:lnTo>
                <a:lnTo>
                  <a:pt x="282219" y="423681"/>
                </a:lnTo>
                <a:lnTo>
                  <a:pt x="316359" y="400119"/>
                </a:lnTo>
                <a:lnTo>
                  <a:pt x="345170" y="368506"/>
                </a:lnTo>
                <a:lnTo>
                  <a:pt x="368259" y="329636"/>
                </a:lnTo>
                <a:lnTo>
                  <a:pt x="385236" y="284303"/>
                </a:lnTo>
                <a:lnTo>
                  <a:pt x="393565" y="243744"/>
                </a:lnTo>
                <a:lnTo>
                  <a:pt x="122519" y="243744"/>
                </a:lnTo>
                <a:lnTo>
                  <a:pt x="98425" y="242188"/>
                </a:lnTo>
                <a:lnTo>
                  <a:pt x="75422" y="235150"/>
                </a:lnTo>
                <a:lnTo>
                  <a:pt x="57658" y="224170"/>
                </a:lnTo>
                <a:lnTo>
                  <a:pt x="46847" y="210738"/>
                </a:lnTo>
                <a:lnTo>
                  <a:pt x="44703" y="196342"/>
                </a:lnTo>
                <a:lnTo>
                  <a:pt x="52224" y="183610"/>
                </a:lnTo>
                <a:lnTo>
                  <a:pt x="67437" y="174879"/>
                </a:lnTo>
                <a:lnTo>
                  <a:pt x="88173" y="170910"/>
                </a:lnTo>
                <a:lnTo>
                  <a:pt x="398896" y="170910"/>
                </a:lnTo>
                <a:lnTo>
                  <a:pt x="395815" y="119614"/>
                </a:lnTo>
                <a:lnTo>
                  <a:pt x="388175" y="67976"/>
                </a:lnTo>
                <a:lnTo>
                  <a:pt x="380535" y="30864"/>
                </a:lnTo>
                <a:lnTo>
                  <a:pt x="378395" y="22098"/>
                </a:lnTo>
                <a:lnTo>
                  <a:pt x="199517" y="22098"/>
                </a:lnTo>
                <a:lnTo>
                  <a:pt x="137890" y="18645"/>
                </a:lnTo>
                <a:lnTo>
                  <a:pt x="88741" y="11049"/>
                </a:lnTo>
                <a:lnTo>
                  <a:pt x="56213" y="3452"/>
                </a:lnTo>
                <a:lnTo>
                  <a:pt x="44450" y="0"/>
                </a:lnTo>
                <a:close/>
              </a:path>
              <a:path w="399415" h="443864">
                <a:moveTo>
                  <a:pt x="311110" y="170910"/>
                </a:moveTo>
                <a:lnTo>
                  <a:pt x="88173" y="170910"/>
                </a:lnTo>
                <a:lnTo>
                  <a:pt x="112268" y="172466"/>
                </a:lnTo>
                <a:lnTo>
                  <a:pt x="135288" y="179504"/>
                </a:lnTo>
                <a:lnTo>
                  <a:pt x="153082" y="190484"/>
                </a:lnTo>
                <a:lnTo>
                  <a:pt x="163899" y="203916"/>
                </a:lnTo>
                <a:lnTo>
                  <a:pt x="165989" y="218312"/>
                </a:lnTo>
                <a:lnTo>
                  <a:pt x="158468" y="231044"/>
                </a:lnTo>
                <a:lnTo>
                  <a:pt x="143255" y="239775"/>
                </a:lnTo>
                <a:lnTo>
                  <a:pt x="122519" y="243744"/>
                </a:lnTo>
                <a:lnTo>
                  <a:pt x="276572" y="243744"/>
                </a:lnTo>
                <a:lnTo>
                  <a:pt x="255825" y="239775"/>
                </a:lnTo>
                <a:lnTo>
                  <a:pt x="240674" y="231044"/>
                </a:lnTo>
                <a:lnTo>
                  <a:pt x="233299" y="218312"/>
                </a:lnTo>
                <a:lnTo>
                  <a:pt x="235352" y="203916"/>
                </a:lnTo>
                <a:lnTo>
                  <a:pt x="246110" y="190484"/>
                </a:lnTo>
                <a:lnTo>
                  <a:pt x="263892" y="179504"/>
                </a:lnTo>
                <a:lnTo>
                  <a:pt x="287020" y="172466"/>
                </a:lnTo>
                <a:lnTo>
                  <a:pt x="311110" y="170910"/>
                </a:lnTo>
                <a:close/>
              </a:path>
              <a:path w="399415" h="443864">
                <a:moveTo>
                  <a:pt x="398896" y="170910"/>
                </a:moveTo>
                <a:lnTo>
                  <a:pt x="311110" y="170910"/>
                </a:lnTo>
                <a:lnTo>
                  <a:pt x="331819" y="174879"/>
                </a:lnTo>
                <a:lnTo>
                  <a:pt x="346956" y="183610"/>
                </a:lnTo>
                <a:lnTo>
                  <a:pt x="354329" y="196342"/>
                </a:lnTo>
                <a:lnTo>
                  <a:pt x="352331" y="210738"/>
                </a:lnTo>
                <a:lnTo>
                  <a:pt x="341582" y="224170"/>
                </a:lnTo>
                <a:lnTo>
                  <a:pt x="323808" y="235150"/>
                </a:lnTo>
                <a:lnTo>
                  <a:pt x="300736" y="242188"/>
                </a:lnTo>
                <a:lnTo>
                  <a:pt x="276572" y="243744"/>
                </a:lnTo>
                <a:lnTo>
                  <a:pt x="393565" y="243744"/>
                </a:lnTo>
                <a:lnTo>
                  <a:pt x="395709" y="233299"/>
                </a:lnTo>
                <a:lnTo>
                  <a:pt x="399288" y="177419"/>
                </a:lnTo>
                <a:lnTo>
                  <a:pt x="398990" y="172466"/>
                </a:lnTo>
                <a:lnTo>
                  <a:pt x="398896" y="170910"/>
                </a:lnTo>
                <a:close/>
              </a:path>
              <a:path w="399415" h="443864">
                <a:moveTo>
                  <a:pt x="354711" y="0"/>
                </a:moveTo>
                <a:lnTo>
                  <a:pt x="342927" y="3452"/>
                </a:lnTo>
                <a:lnTo>
                  <a:pt x="310356" y="11049"/>
                </a:lnTo>
                <a:lnTo>
                  <a:pt x="261163" y="18645"/>
                </a:lnTo>
                <a:lnTo>
                  <a:pt x="199517" y="22098"/>
                </a:lnTo>
                <a:lnTo>
                  <a:pt x="378395" y="22098"/>
                </a:lnTo>
                <a:lnTo>
                  <a:pt x="377063" y="16637"/>
                </a:lnTo>
                <a:lnTo>
                  <a:pt x="354711" y="0"/>
                </a:lnTo>
                <a:close/>
              </a:path>
            </a:pathLst>
          </a:custGeom>
          <a:solidFill>
            <a:srgbClr val="FF6C52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9" name="object 2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  <p:sp>
        <p:nvSpPr>
          <p:cNvPr id="37" name="object 37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endParaRPr/>
          </a:p>
        </p:txBody>
      </p:sp>
      <p:grpSp>
        <p:nvGrpSpPr>
          <p:cNvPr id="30" name="object 30"/>
          <p:cNvGrpSpPr/>
          <p:nvPr/>
        </p:nvGrpSpPr>
        <p:grpSpPr>
          <a:xfrm>
            <a:off x="1756342" y="6153126"/>
            <a:ext cx="469265" cy="228600"/>
            <a:chOff x="1756342" y="6153126"/>
            <a:chExt cx="469265" cy="228600"/>
          </a:xfrm>
        </p:grpSpPr>
        <p:pic>
          <p:nvPicPr>
            <p:cNvPr id="31" name="object 31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56342" y="6153126"/>
              <a:ext cx="228156" cy="228295"/>
            </a:xfrm>
            <a:prstGeom prst="rect">
              <a:avLst/>
            </a:prstGeom>
          </p:spPr>
        </p:pic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97001" y="6154668"/>
              <a:ext cx="228151" cy="225210"/>
            </a:xfrm>
            <a:prstGeom prst="rect">
              <a:avLst/>
            </a:prstGeom>
          </p:spPr>
        </p:pic>
      </p:grpSp>
      <p:pic>
        <p:nvPicPr>
          <p:cNvPr id="33" name="object 33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2273675" y="6183976"/>
            <a:ext cx="809350" cy="204540"/>
          </a:xfrm>
          <a:prstGeom prst="rect">
            <a:avLst/>
          </a:prstGeom>
        </p:spPr>
      </p:pic>
      <p:sp>
        <p:nvSpPr>
          <p:cNvPr id="34" name="object 34"/>
          <p:cNvSpPr/>
          <p:nvPr/>
        </p:nvSpPr>
        <p:spPr>
          <a:xfrm>
            <a:off x="3194038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5" name="object 35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275299" y="6219454"/>
            <a:ext cx="919633" cy="101807"/>
          </a:xfrm>
          <a:prstGeom prst="rect">
            <a:avLst/>
          </a:prstGeom>
        </p:spPr>
      </p:pic>
      <p:sp>
        <p:nvSpPr>
          <p:cNvPr id="36" name="object 36"/>
          <p:cNvSpPr/>
          <p:nvPr/>
        </p:nvSpPr>
        <p:spPr>
          <a:xfrm>
            <a:off x="4263692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$PPTXTitle"/>
          <p:cNvSpPr txBox="1">
            <a:spLocks noGrp="1"/>
          </p:cNvSpPr>
          <p:nvPr>
            <p:ph type="title"/>
          </p:nvPr>
        </p:nvSpPr>
        <p:spPr>
          <a:xfrm>
            <a:off x="682853" y="459104"/>
            <a:ext cx="486092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3600" dirty="0">
                <a:solidFill/>
              </a:rPr>
              <a:t>Защита данных</a:t>
            </a:r>
          </a:p>
        </p:txBody>
      </p:sp>
      <p:sp>
        <p:nvSpPr>
          <p:cNvPr id="26" name="object 26"/>
          <p:cNvSpPr/>
          <p:nvPr/>
        </p:nvSpPr>
        <p:spPr>
          <a:xfrm>
            <a:off x="707136" y="1225296"/>
            <a:ext cx="3453765" cy="2303145"/>
          </a:xfrm>
          <a:custGeom>
            <a:avLst/>
            <a:gdLst/>
            <a:ahLst/>
            <a:cxnLst/>
            <a:rect l="l" t="t" r="r" b="b"/>
            <a:pathLst>
              <a:path w="3453765" h="2303145">
                <a:moveTo>
                  <a:pt x="3181604" y="0"/>
                </a:moveTo>
                <a:lnTo>
                  <a:pt x="271792" y="0"/>
                </a:lnTo>
                <a:lnTo>
                  <a:pt x="222939" y="4378"/>
                </a:lnTo>
                <a:lnTo>
                  <a:pt x="176957" y="17001"/>
                </a:lnTo>
                <a:lnTo>
                  <a:pt x="134616" y="37102"/>
                </a:lnTo>
                <a:lnTo>
                  <a:pt x="96682" y="63914"/>
                </a:lnTo>
                <a:lnTo>
                  <a:pt x="63924" y="96669"/>
                </a:lnTo>
                <a:lnTo>
                  <a:pt x="37108" y="134601"/>
                </a:lnTo>
                <a:lnTo>
                  <a:pt x="17004" y="176941"/>
                </a:lnTo>
                <a:lnTo>
                  <a:pt x="4379" y="222923"/>
                </a:lnTo>
                <a:lnTo>
                  <a:pt x="0" y="271779"/>
                </a:lnTo>
                <a:lnTo>
                  <a:pt x="0" y="2030983"/>
                </a:lnTo>
                <a:lnTo>
                  <a:pt x="4379" y="2079840"/>
                </a:lnTo>
                <a:lnTo>
                  <a:pt x="17004" y="2125822"/>
                </a:lnTo>
                <a:lnTo>
                  <a:pt x="37108" y="2168162"/>
                </a:lnTo>
                <a:lnTo>
                  <a:pt x="63924" y="2206094"/>
                </a:lnTo>
                <a:lnTo>
                  <a:pt x="96682" y="2238849"/>
                </a:lnTo>
                <a:lnTo>
                  <a:pt x="134616" y="2265661"/>
                </a:lnTo>
                <a:lnTo>
                  <a:pt x="176957" y="2285762"/>
                </a:lnTo>
                <a:lnTo>
                  <a:pt x="222939" y="2298385"/>
                </a:lnTo>
                <a:lnTo>
                  <a:pt x="271792" y="2302764"/>
                </a:lnTo>
                <a:lnTo>
                  <a:pt x="3181604" y="2302764"/>
                </a:lnTo>
                <a:lnTo>
                  <a:pt x="3230460" y="2298385"/>
                </a:lnTo>
                <a:lnTo>
                  <a:pt x="3276442" y="2285762"/>
                </a:lnTo>
                <a:lnTo>
                  <a:pt x="3318782" y="2265661"/>
                </a:lnTo>
                <a:lnTo>
                  <a:pt x="3356714" y="2238849"/>
                </a:lnTo>
                <a:lnTo>
                  <a:pt x="3389469" y="2206094"/>
                </a:lnTo>
                <a:lnTo>
                  <a:pt x="3416281" y="2168162"/>
                </a:lnTo>
                <a:lnTo>
                  <a:pt x="3436382" y="2125822"/>
                </a:lnTo>
                <a:lnTo>
                  <a:pt x="3449005" y="2079840"/>
                </a:lnTo>
                <a:lnTo>
                  <a:pt x="3453384" y="2030983"/>
                </a:lnTo>
                <a:lnTo>
                  <a:pt x="3453384" y="271779"/>
                </a:lnTo>
                <a:lnTo>
                  <a:pt x="3449005" y="222923"/>
                </a:lnTo>
                <a:lnTo>
                  <a:pt x="3436382" y="176941"/>
                </a:lnTo>
                <a:lnTo>
                  <a:pt x="3416281" y="134601"/>
                </a:lnTo>
                <a:lnTo>
                  <a:pt x="3389469" y="96669"/>
                </a:lnTo>
                <a:lnTo>
                  <a:pt x="3356714" y="63914"/>
                </a:lnTo>
                <a:lnTo>
                  <a:pt x="3318782" y="37102"/>
                </a:lnTo>
                <a:lnTo>
                  <a:pt x="3276442" y="17001"/>
                </a:lnTo>
                <a:lnTo>
                  <a:pt x="3230460" y="4378"/>
                </a:lnTo>
                <a:lnTo>
                  <a:pt x="318160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588388" y="1456689"/>
            <a:ext cx="168973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100" spc="10" dirty="0">
                <a:solidFill>
                  <a:srgbClr val="141B27"/>
                </a:solidFill>
                <a:latin typeface="Trebuchet MS"/>
                <a:cs typeface="Trebuchet MS"/>
              </a:rPr>
              <a:t>ПДн</a:t>
            </a:r>
          </a:p>
        </p:txBody>
      </p:sp>
      <p:sp>
        <p:nvSpPr>
          <p:cNvPr id="3" name="object 3"/>
          <p:cNvSpPr/>
          <p:nvPr/>
        </p:nvSpPr>
        <p:spPr>
          <a:xfrm>
            <a:off x="707136" y="3726179"/>
            <a:ext cx="7124700" cy="2169160"/>
          </a:xfrm>
          <a:custGeom>
            <a:avLst/>
            <a:gdLst/>
            <a:ahLst/>
            <a:cxnLst/>
            <a:rect l="l" t="t" r="r" b="b"/>
            <a:pathLst>
              <a:path w="7124700" h="2169160">
                <a:moveTo>
                  <a:pt x="6871716" y="0"/>
                </a:moveTo>
                <a:lnTo>
                  <a:pt x="253022" y="0"/>
                </a:lnTo>
                <a:lnTo>
                  <a:pt x="207541" y="4076"/>
                </a:lnTo>
                <a:lnTo>
                  <a:pt x="164735" y="15829"/>
                </a:lnTo>
                <a:lnTo>
                  <a:pt x="125317" y="34543"/>
                </a:lnTo>
                <a:lnTo>
                  <a:pt x="90004" y="59504"/>
                </a:lnTo>
                <a:lnTo>
                  <a:pt x="59508" y="89997"/>
                </a:lnTo>
                <a:lnTo>
                  <a:pt x="34545" y="125306"/>
                </a:lnTo>
                <a:lnTo>
                  <a:pt x="15829" y="164717"/>
                </a:lnTo>
                <a:lnTo>
                  <a:pt x="4076" y="207514"/>
                </a:lnTo>
                <a:lnTo>
                  <a:pt x="0" y="252984"/>
                </a:lnTo>
                <a:lnTo>
                  <a:pt x="0" y="1915629"/>
                </a:lnTo>
                <a:lnTo>
                  <a:pt x="4076" y="1961110"/>
                </a:lnTo>
                <a:lnTo>
                  <a:pt x="15829" y="2003916"/>
                </a:lnTo>
                <a:lnTo>
                  <a:pt x="34545" y="2043334"/>
                </a:lnTo>
                <a:lnTo>
                  <a:pt x="59508" y="2078647"/>
                </a:lnTo>
                <a:lnTo>
                  <a:pt x="90004" y="2109143"/>
                </a:lnTo>
                <a:lnTo>
                  <a:pt x="125317" y="2134106"/>
                </a:lnTo>
                <a:lnTo>
                  <a:pt x="164735" y="2152822"/>
                </a:lnTo>
                <a:lnTo>
                  <a:pt x="207541" y="2164575"/>
                </a:lnTo>
                <a:lnTo>
                  <a:pt x="253022" y="2168652"/>
                </a:lnTo>
                <a:lnTo>
                  <a:pt x="6871716" y="2168652"/>
                </a:lnTo>
                <a:lnTo>
                  <a:pt x="6917185" y="2164575"/>
                </a:lnTo>
                <a:lnTo>
                  <a:pt x="6959982" y="2152822"/>
                </a:lnTo>
                <a:lnTo>
                  <a:pt x="6999393" y="2134106"/>
                </a:lnTo>
                <a:lnTo>
                  <a:pt x="7034702" y="2109143"/>
                </a:lnTo>
                <a:lnTo>
                  <a:pt x="7065195" y="2078647"/>
                </a:lnTo>
                <a:lnTo>
                  <a:pt x="7090156" y="2043334"/>
                </a:lnTo>
                <a:lnTo>
                  <a:pt x="7108870" y="2003916"/>
                </a:lnTo>
                <a:lnTo>
                  <a:pt x="7120623" y="1961110"/>
                </a:lnTo>
                <a:lnTo>
                  <a:pt x="7124700" y="1915629"/>
                </a:lnTo>
                <a:lnTo>
                  <a:pt x="7124700" y="252984"/>
                </a:lnTo>
                <a:lnTo>
                  <a:pt x="7120623" y="207514"/>
                </a:lnTo>
                <a:lnTo>
                  <a:pt x="7108870" y="164717"/>
                </a:lnTo>
                <a:lnTo>
                  <a:pt x="7090156" y="125306"/>
                </a:lnTo>
                <a:lnTo>
                  <a:pt x="7065195" y="89997"/>
                </a:lnTo>
                <a:lnTo>
                  <a:pt x="7034702" y="59504"/>
                </a:lnTo>
                <a:lnTo>
                  <a:pt x="6999393" y="34544"/>
                </a:lnTo>
                <a:lnTo>
                  <a:pt x="6959982" y="15829"/>
                </a:lnTo>
                <a:lnTo>
                  <a:pt x="6917185" y="4076"/>
                </a:lnTo>
                <a:lnTo>
                  <a:pt x="687171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5" name="object 5"/>
          <p:cNvGrpSpPr/>
          <p:nvPr/>
        </p:nvGrpSpPr>
        <p:grpSpPr>
          <a:xfrm>
            <a:off x="877824" y="3881628"/>
            <a:ext cx="3499485" cy="1884045"/>
            <a:chOff x="877824" y="3881628"/>
            <a:chExt cx="3499485" cy="1884045"/>
          </a:xfrm>
        </p:grpSpPr>
        <p:pic>
          <p:nvPicPr>
            <p:cNvPr id="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992124" y="4454652"/>
              <a:ext cx="469392" cy="42824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0872" y="4884420"/>
              <a:ext cx="705612" cy="880872"/>
            </a:xfrm>
            <a:prstGeom prst="rect">
              <a:avLst/>
            </a:prstGeom>
          </p:spPr>
        </p:pic>
        <p:sp>
          <p:nvSpPr>
            <p:cNvPr id="8" name="object 8"/>
            <p:cNvSpPr/>
            <p:nvPr/>
          </p:nvSpPr>
          <p:spPr>
            <a:xfrm>
              <a:off x="877824" y="3881628"/>
              <a:ext cx="3499485" cy="360045"/>
            </a:xfrm>
            <a:custGeom>
              <a:avLst/>
              <a:gdLst/>
              <a:ahLst/>
              <a:cxnLst/>
              <a:rect l="l" t="t" r="r" b="b"/>
              <a:pathLst>
                <a:path w="3499485" h="360045">
                  <a:moveTo>
                    <a:pt x="3319272" y="0"/>
                  </a:moveTo>
                  <a:lnTo>
                    <a:pt x="179831" y="0"/>
                  </a:ln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2"/>
                  </a:lnTo>
                  <a:lnTo>
                    <a:pt x="6424" y="227636"/>
                  </a:lnTo>
                  <a:lnTo>
                    <a:pt x="24553" y="270594"/>
                  </a:lnTo>
                  <a:lnTo>
                    <a:pt x="52673" y="306990"/>
                  </a:lnTo>
                  <a:lnTo>
                    <a:pt x="89069" y="335110"/>
                  </a:lnTo>
                  <a:lnTo>
                    <a:pt x="132027" y="353239"/>
                  </a:lnTo>
                  <a:lnTo>
                    <a:pt x="179831" y="359664"/>
                  </a:lnTo>
                  <a:lnTo>
                    <a:pt x="3319272" y="359664"/>
                  </a:lnTo>
                  <a:lnTo>
                    <a:pt x="3367076" y="353239"/>
                  </a:lnTo>
                  <a:lnTo>
                    <a:pt x="3410034" y="335110"/>
                  </a:lnTo>
                  <a:lnTo>
                    <a:pt x="3446430" y="306990"/>
                  </a:lnTo>
                  <a:lnTo>
                    <a:pt x="3474550" y="270594"/>
                  </a:lnTo>
                  <a:lnTo>
                    <a:pt x="3492679" y="227636"/>
                  </a:lnTo>
                  <a:lnTo>
                    <a:pt x="3499104" y="179832"/>
                  </a:lnTo>
                  <a:lnTo>
                    <a:pt x="3492679" y="132027"/>
                  </a:lnTo>
                  <a:lnTo>
                    <a:pt x="3474550" y="89069"/>
                  </a:lnTo>
                  <a:lnTo>
                    <a:pt x="3446430" y="52673"/>
                  </a:lnTo>
                  <a:lnTo>
                    <a:pt x="3410034" y="24553"/>
                  </a:lnTo>
                  <a:lnTo>
                    <a:pt x="3367076" y="6424"/>
                  </a:lnTo>
                  <a:lnTo>
                    <a:pt x="3319272" y="0"/>
                  </a:lnTo>
                  <a:close/>
                </a:path>
              </a:pathLst>
            </a:custGeom>
            <a:solidFill>
              <a:srgbClr val="313A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/>
          <p:nvPr/>
        </p:nvSpPr>
        <p:spPr>
          <a:xfrm>
            <a:off x="8048243" y="1225296"/>
            <a:ext cx="3455035" cy="4669790"/>
          </a:xfrm>
          <a:custGeom>
            <a:avLst/>
            <a:gdLst/>
            <a:ahLst/>
            <a:cxnLst/>
            <a:rect l="l" t="t" r="r" b="b"/>
            <a:pathLst>
              <a:path w="3455034" h="4669790">
                <a:moveTo>
                  <a:pt x="3181730" y="0"/>
                </a:moveTo>
                <a:lnTo>
                  <a:pt x="273176" y="0"/>
                </a:lnTo>
                <a:lnTo>
                  <a:pt x="224071" y="4401"/>
                </a:lnTo>
                <a:lnTo>
                  <a:pt x="177854" y="17090"/>
                </a:lnTo>
                <a:lnTo>
                  <a:pt x="135297" y="37295"/>
                </a:lnTo>
                <a:lnTo>
                  <a:pt x="97170" y="64246"/>
                </a:lnTo>
                <a:lnTo>
                  <a:pt x="64246" y="97170"/>
                </a:lnTo>
                <a:lnTo>
                  <a:pt x="37295" y="135297"/>
                </a:lnTo>
                <a:lnTo>
                  <a:pt x="17090" y="177854"/>
                </a:lnTo>
                <a:lnTo>
                  <a:pt x="4401" y="224071"/>
                </a:lnTo>
                <a:lnTo>
                  <a:pt x="0" y="273176"/>
                </a:lnTo>
                <a:lnTo>
                  <a:pt x="0" y="4396358"/>
                </a:lnTo>
                <a:lnTo>
                  <a:pt x="4401" y="4445460"/>
                </a:lnTo>
                <a:lnTo>
                  <a:pt x="17090" y="4491676"/>
                </a:lnTo>
                <a:lnTo>
                  <a:pt x="37295" y="4534233"/>
                </a:lnTo>
                <a:lnTo>
                  <a:pt x="64246" y="4572360"/>
                </a:lnTo>
                <a:lnTo>
                  <a:pt x="97170" y="4605285"/>
                </a:lnTo>
                <a:lnTo>
                  <a:pt x="135297" y="4632237"/>
                </a:lnTo>
                <a:lnTo>
                  <a:pt x="177854" y="4652444"/>
                </a:lnTo>
                <a:lnTo>
                  <a:pt x="224071" y="4665134"/>
                </a:lnTo>
                <a:lnTo>
                  <a:pt x="273176" y="4669535"/>
                </a:lnTo>
                <a:lnTo>
                  <a:pt x="3181730" y="4669535"/>
                </a:lnTo>
                <a:lnTo>
                  <a:pt x="3230836" y="4665134"/>
                </a:lnTo>
                <a:lnTo>
                  <a:pt x="3277053" y="4652444"/>
                </a:lnTo>
                <a:lnTo>
                  <a:pt x="3319610" y="4632237"/>
                </a:lnTo>
                <a:lnTo>
                  <a:pt x="3357737" y="4605285"/>
                </a:lnTo>
                <a:lnTo>
                  <a:pt x="3390661" y="4572360"/>
                </a:lnTo>
                <a:lnTo>
                  <a:pt x="3417612" y="4534233"/>
                </a:lnTo>
                <a:lnTo>
                  <a:pt x="3437817" y="4491676"/>
                </a:lnTo>
                <a:lnTo>
                  <a:pt x="3450506" y="4445460"/>
                </a:lnTo>
                <a:lnTo>
                  <a:pt x="3454907" y="4396358"/>
                </a:lnTo>
                <a:lnTo>
                  <a:pt x="3454907" y="273176"/>
                </a:lnTo>
                <a:lnTo>
                  <a:pt x="3450506" y="224071"/>
                </a:lnTo>
                <a:lnTo>
                  <a:pt x="3437817" y="177854"/>
                </a:lnTo>
                <a:lnTo>
                  <a:pt x="3417612" y="135297"/>
                </a:lnTo>
                <a:lnTo>
                  <a:pt x="3390661" y="97170"/>
                </a:lnTo>
                <a:lnTo>
                  <a:pt x="3357737" y="64246"/>
                </a:lnTo>
                <a:lnTo>
                  <a:pt x="3319610" y="37295"/>
                </a:lnTo>
                <a:lnTo>
                  <a:pt x="3277053" y="17090"/>
                </a:lnTo>
                <a:lnTo>
                  <a:pt x="3230836" y="4401"/>
                </a:lnTo>
                <a:lnTo>
                  <a:pt x="318173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8981693" y="1934718"/>
            <a:ext cx="1912620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defRPr/>
            </a:pPr>
            <a:r>
              <a:rPr sz="1400" dirty="0">
                <a:solidFill>
                  <a:srgbClr val="313A56"/>
                </a:solidFill>
                <a:latin typeface="Trebuchet MS"/>
                <a:cs typeface="Trebuchet MS"/>
              </a:rPr>
              <a:t>Регламенты</a:t>
            </a:r>
          </a:p>
        </p:txBody>
      </p:sp>
      <p:grpSp>
        <p:nvGrpSpPr>
          <p:cNvPr id="21" name="object 21"/>
          <p:cNvGrpSpPr/>
          <p:nvPr/>
        </p:nvGrpSpPr>
        <p:grpSpPr>
          <a:xfrm>
            <a:off x="8223504" y="1380744"/>
            <a:ext cx="3103245" cy="1879600"/>
            <a:chOff x="8223504" y="1380744"/>
            <a:chExt cx="3103245" cy="1879600"/>
          </a:xfrm>
        </p:grpSpPr>
        <p:pic>
          <p:nvPicPr>
            <p:cNvPr id="22" name="object 22" descr="Изображение выглядит как снимок экрана, Графика, логотип, графический дизайн  Контент, сгенерированный ИИ, может содержать ошибки.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8319516" y="2726436"/>
              <a:ext cx="414527" cy="533400"/>
            </a:xfrm>
            <a:prstGeom prst="rect">
              <a:avLst/>
            </a:prstGeom>
          </p:spPr>
        </p:pic>
        <p:sp>
          <p:nvSpPr>
            <p:cNvPr id="23" name="object 23"/>
            <p:cNvSpPr/>
            <p:nvPr/>
          </p:nvSpPr>
          <p:spPr>
            <a:xfrm>
              <a:off x="8223504" y="1380744"/>
              <a:ext cx="3103245" cy="360045"/>
            </a:xfrm>
            <a:custGeom>
              <a:avLst/>
              <a:gdLst/>
              <a:ahLst/>
              <a:cxnLst/>
              <a:rect l="l" t="t" r="r" b="b"/>
              <a:pathLst>
                <a:path w="3103245" h="360044">
                  <a:moveTo>
                    <a:pt x="2923031" y="0"/>
                  </a:moveTo>
                  <a:lnTo>
                    <a:pt x="179831" y="0"/>
                  </a:lnTo>
                  <a:lnTo>
                    <a:pt x="132027" y="6424"/>
                  </a:lnTo>
                  <a:lnTo>
                    <a:pt x="89069" y="24553"/>
                  </a:lnTo>
                  <a:lnTo>
                    <a:pt x="52673" y="52673"/>
                  </a:lnTo>
                  <a:lnTo>
                    <a:pt x="24553" y="89069"/>
                  </a:lnTo>
                  <a:lnTo>
                    <a:pt x="6424" y="132027"/>
                  </a:lnTo>
                  <a:lnTo>
                    <a:pt x="0" y="179831"/>
                  </a:lnTo>
                  <a:lnTo>
                    <a:pt x="6424" y="227636"/>
                  </a:lnTo>
                  <a:lnTo>
                    <a:pt x="24553" y="270594"/>
                  </a:lnTo>
                  <a:lnTo>
                    <a:pt x="52673" y="306990"/>
                  </a:lnTo>
                  <a:lnTo>
                    <a:pt x="89069" y="335110"/>
                  </a:lnTo>
                  <a:lnTo>
                    <a:pt x="132027" y="353239"/>
                  </a:lnTo>
                  <a:lnTo>
                    <a:pt x="179831" y="359663"/>
                  </a:lnTo>
                  <a:lnTo>
                    <a:pt x="2923031" y="359663"/>
                  </a:lnTo>
                  <a:lnTo>
                    <a:pt x="2970836" y="353239"/>
                  </a:lnTo>
                  <a:lnTo>
                    <a:pt x="3013794" y="335110"/>
                  </a:lnTo>
                  <a:lnTo>
                    <a:pt x="3050190" y="306990"/>
                  </a:lnTo>
                  <a:lnTo>
                    <a:pt x="3078310" y="270594"/>
                  </a:lnTo>
                  <a:lnTo>
                    <a:pt x="3096439" y="227636"/>
                  </a:lnTo>
                  <a:lnTo>
                    <a:pt x="3102864" y="179831"/>
                  </a:lnTo>
                  <a:lnTo>
                    <a:pt x="3096439" y="132027"/>
                  </a:lnTo>
                  <a:lnTo>
                    <a:pt x="3078310" y="89069"/>
                  </a:lnTo>
                  <a:lnTo>
                    <a:pt x="3050190" y="52673"/>
                  </a:lnTo>
                  <a:lnTo>
                    <a:pt x="3013794" y="24553"/>
                  </a:lnTo>
                  <a:lnTo>
                    <a:pt x="2970836" y="6424"/>
                  </a:lnTo>
                  <a:lnTo>
                    <a:pt x="2923031" y="0"/>
                  </a:lnTo>
                  <a:close/>
                </a:path>
              </a:pathLst>
            </a:custGeom>
            <a:solidFill>
              <a:srgbClr val="313A5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9258681" y="1456689"/>
            <a:ext cx="1036319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100" spc="10" dirty="0">
                <a:solidFill>
                  <a:srgbClr val="141B27"/>
                </a:solidFill>
                <a:latin typeface="Trebuchet MS"/>
                <a:cs typeface="Trebuchet MS"/>
              </a:rPr>
              <a:t>Финансы</a:t>
            </a:r>
          </a:p>
        </p:txBody>
      </p:sp>
      <p:grpSp>
        <p:nvGrpSpPr>
          <p:cNvPr id="31" name="object 31"/>
          <p:cNvGrpSpPr/>
          <p:nvPr/>
        </p:nvGrpSpPr>
        <p:grpSpPr>
          <a:xfrm>
            <a:off x="920992" y="1929383"/>
            <a:ext cx="525780" cy="1319530"/>
            <a:chOff x="920992" y="1929383"/>
            <a:chExt cx="525780" cy="1319530"/>
          </a:xfrm>
        </p:grpSpPr>
        <p:pic>
          <p:nvPicPr>
            <p:cNvPr id="32" name="object 32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50975" y="1929383"/>
              <a:ext cx="495300" cy="484632"/>
            </a:xfrm>
            <a:prstGeom prst="rect">
              <a:avLst/>
            </a:prstGeom>
          </p:spPr>
        </p:pic>
        <p:pic>
          <p:nvPicPr>
            <p:cNvPr id="33" name="object 33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20992" y="2738303"/>
              <a:ext cx="509732" cy="510540"/>
            </a:xfrm>
            <a:prstGeom prst="rect">
              <a:avLst/>
            </a:prstGeom>
          </p:spPr>
        </p:pic>
        <p:pic>
          <p:nvPicPr>
            <p:cNvPr id="34" name="object 34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109471" y="2921508"/>
              <a:ext cx="132587" cy="134112"/>
            </a:xfrm>
            <a:prstGeom prst="rect">
              <a:avLst/>
            </a:prstGeom>
          </p:spPr>
        </p:pic>
      </p:grpSp>
      <p:sp>
        <p:nvSpPr>
          <p:cNvPr id="27" name="object 27"/>
          <p:cNvSpPr txBox="1"/>
          <p:nvPr/>
        </p:nvSpPr>
        <p:spPr>
          <a:xfrm>
            <a:off x="1639061" y="1934718"/>
            <a:ext cx="1148080" cy="6661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defRPr/>
            </a:pPr>
            <a:r>
              <a:rPr sz="1400" spc="-10" dirty="0">
                <a:solidFill>
                  <a:srgbClr val="313A56"/>
                </a:solidFill>
                <a:latin typeface="Trebuchet MS"/>
                <a:cs typeface="Trebuchet MS"/>
              </a:rPr>
              <a:t>Код</a:t>
            </a:r>
          </a:p>
        </p:txBody>
      </p:sp>
      <p:sp>
        <p:nvSpPr>
          <p:cNvPr id="35" name="object 35"/>
          <p:cNvSpPr/>
          <p:nvPr/>
        </p:nvSpPr>
        <p:spPr>
          <a:xfrm>
            <a:off x="4376928" y="1225296"/>
            <a:ext cx="3455035" cy="2303145"/>
          </a:xfrm>
          <a:custGeom>
            <a:avLst/>
            <a:gdLst/>
            <a:ahLst/>
            <a:cxnLst/>
            <a:rect l="l" t="t" r="r" b="b"/>
            <a:pathLst>
              <a:path w="3455034" h="2303145">
                <a:moveTo>
                  <a:pt x="3178048" y="0"/>
                </a:moveTo>
                <a:lnTo>
                  <a:pt x="276860" y="0"/>
                </a:lnTo>
                <a:lnTo>
                  <a:pt x="227093" y="4460"/>
                </a:lnTo>
                <a:lnTo>
                  <a:pt x="180253" y="17320"/>
                </a:lnTo>
                <a:lnTo>
                  <a:pt x="137122" y="37798"/>
                </a:lnTo>
                <a:lnTo>
                  <a:pt x="98481" y="65113"/>
                </a:lnTo>
                <a:lnTo>
                  <a:pt x="65113" y="98481"/>
                </a:lnTo>
                <a:lnTo>
                  <a:pt x="37798" y="137122"/>
                </a:lnTo>
                <a:lnTo>
                  <a:pt x="17320" y="180253"/>
                </a:lnTo>
                <a:lnTo>
                  <a:pt x="4460" y="227093"/>
                </a:lnTo>
                <a:lnTo>
                  <a:pt x="0" y="276859"/>
                </a:lnTo>
                <a:lnTo>
                  <a:pt x="0" y="2025903"/>
                </a:lnTo>
                <a:lnTo>
                  <a:pt x="4460" y="2075670"/>
                </a:lnTo>
                <a:lnTo>
                  <a:pt x="17320" y="2122510"/>
                </a:lnTo>
                <a:lnTo>
                  <a:pt x="37798" y="2165641"/>
                </a:lnTo>
                <a:lnTo>
                  <a:pt x="65113" y="2204282"/>
                </a:lnTo>
                <a:lnTo>
                  <a:pt x="98481" y="2237650"/>
                </a:lnTo>
                <a:lnTo>
                  <a:pt x="137122" y="2264965"/>
                </a:lnTo>
                <a:lnTo>
                  <a:pt x="180253" y="2285443"/>
                </a:lnTo>
                <a:lnTo>
                  <a:pt x="227093" y="2298303"/>
                </a:lnTo>
                <a:lnTo>
                  <a:pt x="276860" y="2302764"/>
                </a:lnTo>
                <a:lnTo>
                  <a:pt x="3178048" y="2302764"/>
                </a:lnTo>
                <a:lnTo>
                  <a:pt x="3227814" y="2298303"/>
                </a:lnTo>
                <a:lnTo>
                  <a:pt x="3274654" y="2285443"/>
                </a:lnTo>
                <a:lnTo>
                  <a:pt x="3317785" y="2264965"/>
                </a:lnTo>
                <a:lnTo>
                  <a:pt x="3356426" y="2237650"/>
                </a:lnTo>
                <a:lnTo>
                  <a:pt x="3389794" y="2204282"/>
                </a:lnTo>
                <a:lnTo>
                  <a:pt x="3417109" y="2165641"/>
                </a:lnTo>
                <a:lnTo>
                  <a:pt x="3437587" y="2122510"/>
                </a:lnTo>
                <a:lnTo>
                  <a:pt x="3450447" y="2075670"/>
                </a:lnTo>
                <a:lnTo>
                  <a:pt x="3454907" y="2025903"/>
                </a:lnTo>
                <a:lnTo>
                  <a:pt x="3454907" y="276859"/>
                </a:lnTo>
                <a:lnTo>
                  <a:pt x="3450447" y="227093"/>
                </a:lnTo>
                <a:lnTo>
                  <a:pt x="3437587" y="180253"/>
                </a:lnTo>
                <a:lnTo>
                  <a:pt x="3417109" y="137122"/>
                </a:lnTo>
                <a:lnTo>
                  <a:pt x="3389794" y="98481"/>
                </a:lnTo>
                <a:lnTo>
                  <a:pt x="3356426" y="65113"/>
                </a:lnTo>
                <a:lnTo>
                  <a:pt x="3317785" y="37798"/>
                </a:lnTo>
                <a:lnTo>
                  <a:pt x="3274654" y="17320"/>
                </a:lnTo>
                <a:lnTo>
                  <a:pt x="3227814" y="4460"/>
                </a:lnTo>
                <a:lnTo>
                  <a:pt x="317804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 txBox="1"/>
          <p:nvPr/>
        </p:nvSpPr>
        <p:spPr>
          <a:xfrm>
            <a:off x="4864989" y="1456689"/>
            <a:ext cx="2480945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defRPr/>
            </a:pPr>
            <a:r>
              <a:rPr sz="1100" spc="10" dirty="0">
                <a:solidFill>
                  <a:srgbClr val="141B27"/>
                </a:solidFill>
                <a:latin typeface="Trebuchet MS"/>
                <a:cs typeface="Trebuchet MS"/>
              </a:rPr>
              <a:t>Договоры</a:t>
            </a:r>
          </a:p>
        </p:txBody>
      </p:sp>
      <p:grpSp>
        <p:nvGrpSpPr>
          <p:cNvPr id="40" name="object 40"/>
          <p:cNvGrpSpPr/>
          <p:nvPr/>
        </p:nvGrpSpPr>
        <p:grpSpPr>
          <a:xfrm>
            <a:off x="4526279" y="1901951"/>
            <a:ext cx="742315" cy="1286510"/>
            <a:chOff x="4526279" y="1901951"/>
            <a:chExt cx="742315" cy="1286510"/>
          </a:xfrm>
        </p:grpSpPr>
        <p:pic>
          <p:nvPicPr>
            <p:cNvPr id="41" name="object 41" descr="Изображение выглядит как снимок экрана, логотип, белый, символ  Контент, сгенерированный ИИ, может содержать ошибки.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4614671" y="2798063"/>
              <a:ext cx="537972" cy="390143"/>
            </a:xfrm>
            <a:prstGeom prst="rect">
              <a:avLst/>
            </a:prstGeom>
          </p:spPr>
        </p:pic>
        <p:pic>
          <p:nvPicPr>
            <p:cNvPr id="42" name="object 42" descr="Изображение выглядит как символ, Графика, круг  Контент, сгенерированный ИИ, может содержать ошибки.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4526279" y="2868167"/>
              <a:ext cx="192024" cy="193548"/>
            </a:xfrm>
            <a:prstGeom prst="rect">
              <a:avLst/>
            </a:prstGeom>
          </p:spPr>
        </p:pic>
        <p:pic>
          <p:nvPicPr>
            <p:cNvPr id="43" name="object 43" descr="Изображение выглядит как снимок экрана, Графика, дизайн  Контент, сгенерированный ИИ, может содержать ошибки.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579619" y="1901951"/>
              <a:ext cx="688848" cy="539496"/>
            </a:xfrm>
            <a:prstGeom prst="rect">
              <a:avLst/>
            </a:prstGeom>
          </p:spPr>
        </p:pic>
      </p:grpSp>
      <p:sp>
        <p:nvSpPr>
          <p:cNvPr id="36" name="object 36"/>
          <p:cNvSpPr txBox="1"/>
          <p:nvPr/>
        </p:nvSpPr>
        <p:spPr>
          <a:xfrm>
            <a:off x="5310378" y="1934718"/>
            <a:ext cx="1183005" cy="45275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5"/>
              </a:spcBef>
              <a:defRPr/>
            </a:pPr>
            <a:r>
              <a:rPr sz="1400" spc="-10" dirty="0">
                <a:solidFill>
                  <a:srgbClr val="313A56"/>
                </a:solidFill>
                <a:latin typeface="Trebuchet MS"/>
                <a:cs typeface="Trebuchet MS"/>
              </a:rPr>
              <a:t>Секреты</a:t>
            </a:r>
          </a:p>
        </p:txBody>
      </p:sp>
      <p:grpSp>
        <p:nvGrpSpPr>
          <p:cNvPr id="47" name="object 47"/>
          <p:cNvGrpSpPr/>
          <p:nvPr/>
        </p:nvGrpSpPr>
        <p:grpSpPr>
          <a:xfrm>
            <a:off x="4410455" y="4398264"/>
            <a:ext cx="809625" cy="1496695"/>
            <a:chOff x="4410455" y="4398264"/>
            <a:chExt cx="809625" cy="1496695"/>
          </a:xfrm>
        </p:grpSpPr>
        <p:pic>
          <p:nvPicPr>
            <p:cNvPr id="48" name="object 48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584191" y="4398264"/>
              <a:ext cx="541020" cy="541019"/>
            </a:xfrm>
            <a:prstGeom prst="rect">
              <a:avLst/>
            </a:prstGeom>
          </p:spPr>
        </p:pic>
        <p:pic>
          <p:nvPicPr>
            <p:cNvPr id="49" name="object 49" descr="Изображение выглядит как снимок экрана, Графика, логотип, Шрифт  Контент, сгенерированный ИИ, может содержать ошибки.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10455" y="5087112"/>
              <a:ext cx="809244" cy="807719"/>
            </a:xfrm>
            <a:prstGeom prst="rect">
              <a:avLst/>
            </a:prstGeom>
          </p:spPr>
        </p:pic>
      </p:grpSp>
      <p:pic>
        <p:nvPicPr>
          <p:cNvPr id="50" name="object 50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  <p:sp>
        <p:nvSpPr>
          <p:cNvPr id="58" name="object 5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endParaRPr/>
          </a:p>
        </p:txBody>
      </p:sp>
      <p:grpSp>
        <p:nvGrpSpPr>
          <p:cNvPr id="51" name="object 51"/>
          <p:cNvGrpSpPr/>
          <p:nvPr/>
        </p:nvGrpSpPr>
        <p:grpSpPr>
          <a:xfrm>
            <a:off x="1756342" y="6153126"/>
            <a:ext cx="469265" cy="228600"/>
            <a:chOff x="1756342" y="6153126"/>
            <a:chExt cx="469265" cy="228600"/>
          </a:xfrm>
        </p:grpSpPr>
        <p:pic>
          <p:nvPicPr>
            <p:cNvPr id="52" name="object 52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756342" y="6153126"/>
              <a:ext cx="228156" cy="228295"/>
            </a:xfrm>
            <a:prstGeom prst="rect">
              <a:avLst/>
            </a:prstGeom>
          </p:spPr>
        </p:pic>
        <p:pic>
          <p:nvPicPr>
            <p:cNvPr id="53" name="object 53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997001" y="6154668"/>
              <a:ext cx="228151" cy="225210"/>
            </a:xfrm>
            <a:prstGeom prst="rect">
              <a:avLst/>
            </a:prstGeom>
          </p:spPr>
        </p:pic>
      </p:grpSp>
      <p:pic>
        <p:nvPicPr>
          <p:cNvPr id="54" name="object 54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2273675" y="6183976"/>
            <a:ext cx="809350" cy="204540"/>
          </a:xfrm>
          <a:prstGeom prst="rect">
            <a:avLst/>
          </a:prstGeom>
        </p:spPr>
      </p:pic>
      <p:sp>
        <p:nvSpPr>
          <p:cNvPr id="55" name="object 55"/>
          <p:cNvSpPr/>
          <p:nvPr/>
        </p:nvSpPr>
        <p:spPr>
          <a:xfrm>
            <a:off x="3194038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56" name="object 56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3275299" y="6219454"/>
            <a:ext cx="919633" cy="101807"/>
          </a:xfrm>
          <a:prstGeom prst="rect">
            <a:avLst/>
          </a:prstGeom>
        </p:spPr>
      </p:pic>
      <p:sp>
        <p:nvSpPr>
          <p:cNvPr id="57" name="object 57"/>
          <p:cNvSpPr/>
          <p:nvPr/>
        </p:nvSpPr>
        <p:spPr>
          <a:xfrm>
            <a:off x="4263692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13A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8891" y="5433466"/>
            <a:ext cx="2885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Аудит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71844" y="557783"/>
            <a:ext cx="5820410" cy="5832475"/>
            <a:chOff x="6371844" y="557783"/>
            <a:chExt cx="5820410" cy="5832475"/>
          </a:xfrm>
        </p:grpSpPr>
        <p:sp>
          <p:nvSpPr>
            <p:cNvPr id="4" name="object 4"/>
            <p:cNvSpPr/>
            <p:nvPr/>
          </p:nvSpPr>
          <p:spPr>
            <a:xfrm>
              <a:off x="6371844" y="557783"/>
              <a:ext cx="5820410" cy="5832475"/>
            </a:xfrm>
            <a:custGeom>
              <a:avLst/>
              <a:gdLst/>
              <a:ahLst/>
              <a:cxnLst/>
              <a:rect l="l" t="t" r="r" b="b"/>
              <a:pathLst>
                <a:path w="5820409" h="5832475">
                  <a:moveTo>
                    <a:pt x="5820156" y="0"/>
                  </a:moveTo>
                  <a:lnTo>
                    <a:pt x="372109" y="0"/>
                  </a:lnTo>
                  <a:lnTo>
                    <a:pt x="325438" y="2899"/>
                  </a:lnTo>
                  <a:lnTo>
                    <a:pt x="280494" y="11366"/>
                  </a:lnTo>
                  <a:lnTo>
                    <a:pt x="237629" y="25050"/>
                  </a:lnTo>
                  <a:lnTo>
                    <a:pt x="197190" y="43603"/>
                  </a:lnTo>
                  <a:lnTo>
                    <a:pt x="159526" y="66676"/>
                  </a:lnTo>
                  <a:lnTo>
                    <a:pt x="124986" y="93920"/>
                  </a:lnTo>
                  <a:lnTo>
                    <a:pt x="93920" y="124986"/>
                  </a:lnTo>
                  <a:lnTo>
                    <a:pt x="66676" y="159526"/>
                  </a:lnTo>
                  <a:lnTo>
                    <a:pt x="43603" y="197190"/>
                  </a:lnTo>
                  <a:lnTo>
                    <a:pt x="25050" y="237629"/>
                  </a:lnTo>
                  <a:lnTo>
                    <a:pt x="11366" y="280494"/>
                  </a:lnTo>
                  <a:lnTo>
                    <a:pt x="2899" y="325438"/>
                  </a:lnTo>
                  <a:lnTo>
                    <a:pt x="0" y="372110"/>
                  </a:lnTo>
                  <a:lnTo>
                    <a:pt x="0" y="5460238"/>
                  </a:lnTo>
                  <a:lnTo>
                    <a:pt x="2899" y="5506914"/>
                  </a:lnTo>
                  <a:lnTo>
                    <a:pt x="11366" y="5551861"/>
                  </a:lnTo>
                  <a:lnTo>
                    <a:pt x="25050" y="5594729"/>
                  </a:lnTo>
                  <a:lnTo>
                    <a:pt x="43603" y="5635169"/>
                  </a:lnTo>
                  <a:lnTo>
                    <a:pt x="66676" y="5672832"/>
                  </a:lnTo>
                  <a:lnTo>
                    <a:pt x="93920" y="5707371"/>
                  </a:lnTo>
                  <a:lnTo>
                    <a:pt x="124986" y="5738436"/>
                  </a:lnTo>
                  <a:lnTo>
                    <a:pt x="159526" y="5765678"/>
                  </a:lnTo>
                  <a:lnTo>
                    <a:pt x="197190" y="5788749"/>
                  </a:lnTo>
                  <a:lnTo>
                    <a:pt x="237629" y="5807300"/>
                  </a:lnTo>
                  <a:lnTo>
                    <a:pt x="280494" y="5820983"/>
                  </a:lnTo>
                  <a:lnTo>
                    <a:pt x="325438" y="5829448"/>
                  </a:lnTo>
                  <a:lnTo>
                    <a:pt x="372109" y="5832348"/>
                  </a:lnTo>
                  <a:lnTo>
                    <a:pt x="5820156" y="5832348"/>
                  </a:lnTo>
                  <a:lnTo>
                    <a:pt x="5820156" y="0"/>
                  </a:lnTo>
                  <a:close/>
                </a:path>
              </a:pathLst>
            </a:custGeom>
            <a:solidFill>
              <a:srgbClr val="DCE3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0340" y="708659"/>
              <a:ext cx="5661659" cy="55275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9372" y="708659"/>
              <a:ext cx="4262628" cy="5527548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3271" tIns="231571" rIns="4464899" bIns="426137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  <a:defRPr/>
            </a:pPr>
            <a:r>
              <a:rPr sz="3600" spc="-10" dirty="0">
                <a:solidFill>
                  <a:srgbClr val="F0F8FD"/>
                </a:solidFill>
              </a:rPr>
              <a:t>События и расследов</a:t>
            </a:r>
          </a:p>
        </p:txBody>
      </p:sp>
      <p:sp>
        <p:nvSpPr>
          <p:cNvPr id="10" name="object 10"/>
          <p:cNvSpPr/>
          <p:nvPr/>
        </p:nvSpPr>
        <p:spPr>
          <a:xfrm>
            <a:off x="715454" y="2218182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5454" y="2995422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02283" y="2114835"/>
            <a:ext cx="3352165" cy="77724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 dirty="0">
                <a:solidFill>
                  <a:srgbClr val="F0F8FD"/>
                </a:solidFill>
                <a:latin typeface="Trebuchet MS"/>
                <a:cs typeface="Trebuchet MS"/>
              </a:rPr>
              <a:t>Полная цепочка: пользователь, запрос, модель</a:t>
            </a:r>
          </a:p>
        </p:txBody>
      </p:sp>
      <p:sp>
        <p:nvSpPr>
          <p:cNvPr id="22" name="object 12 — item 2"/>
          <p:cNvSpPr txBox="1"/>
          <p:nvPr/>
        </p:nvSpPr>
        <p:spPr>
          <a:xfrm>
            <a:off x="1002283" y="2892075"/>
            <a:ext cx="3352165" cy="77724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 dirty="0">
                <a:solidFill>
                  <a:srgbClr val="F0F8FD"/>
                </a:solidFill>
                <a:latin typeface="Trebuchet MS"/>
                <a:cs typeface="Trebuchet MS"/>
              </a:rPr>
              <a:t>Экспорт в SIEM/SOAR, отчёты для ИБ</a:t>
            </a: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756342" y="6153126"/>
            <a:ext cx="469265" cy="228600"/>
            <a:chOff x="1756342" y="6153126"/>
            <a:chExt cx="469265" cy="2286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6342" y="6153126"/>
              <a:ext cx="228156" cy="2282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7001" y="6154668"/>
              <a:ext cx="228151" cy="22521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3194038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63692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21488" rIns="0" bIns="0" rtlCol="0">
            <a:spAutoFit/>
          </a:bodyPr>
          <a:lstStyle/>
          <a:p>
            <a:pPr marL="196215">
              <a:lnSpc>
                <a:spcPts val="4105"/>
              </a:lnSpc>
              <a:spcBef>
                <a:spcPts val="100"/>
              </a:spcBef>
              <a:defRPr/>
            </a:pPr>
            <a:r>
              <a:rPr sz="3600" spc="-10" dirty="0">
                <a:solidFill/>
              </a:rPr>
              <a:t>Управление моделями и администрирование</a:t>
            </a:r>
          </a:p>
        </p:txBody>
      </p:sp>
      <p:sp>
        <p:nvSpPr>
          <p:cNvPr id="3" name="object 3"/>
          <p:cNvSpPr/>
          <p:nvPr/>
        </p:nvSpPr>
        <p:spPr>
          <a:xfrm>
            <a:off x="717372" y="2213864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4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717372" y="2716783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17372" y="3219704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4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717372" y="3722623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004112" y="2106295"/>
            <a:ext cx="3895725" cy="208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dirty="0">
                <a:solidFill>
                  <a:srgbClr val="313A56"/>
                </a:solidFill>
                <a:latin typeface="Trebuchet MS"/>
                <a:cs typeface="Trebuchet MS"/>
              </a:rPr>
              <a:t>Выбор облачной, локальной</a:t>
            </a:r>
          </a:p>
          <a:p>
            <a:pPr marL="12700">
              <a:lnSpc>
                <a:spcPct val="100000"/>
              </a:lnSpc>
              <a:spcBef>
                <a:spcPts val="1800"/>
              </a:spcBef>
              <a:defRPr/>
            </a:pPr>
            <a:r>
              <a:rPr sz="1800" dirty="0">
                <a:solidFill>
                  <a:srgbClr val="313A56"/>
                </a:solidFill>
                <a:latin typeface="Trebuchet MS"/>
                <a:cs typeface="Trebuchet MS"/>
              </a:rPr>
              <a:t>Критерии: тип задачи, уровень</a:t>
            </a:r>
          </a:p>
          <a:p>
            <a:pPr marL="12700">
              <a:lnSpc>
                <a:spcPct val="100000"/>
              </a:lnSpc>
              <a:spcBef>
                <a:spcPts val="1800"/>
              </a:spcBef>
              <a:defRPr/>
            </a:pPr>
            <a:r>
              <a:rPr sz="1800" dirty="0">
                <a:solidFill>
                  <a:srgbClr val="313A56"/>
                </a:solidFill>
                <a:latin typeface="Trebuchet MS"/>
                <a:cs typeface="Trebuchet MS"/>
              </a:rPr>
              <a:t>Единая консоль для настройки</a:t>
            </a:r>
          </a:p>
          <a:p>
            <a:pPr marL="12700" marR="215265">
              <a:lnSpc>
                <a:spcPct val="100000"/>
              </a:lnSpc>
              <a:spcBef>
                <a:spcPts val="1800"/>
              </a:spcBef>
              <a:defRPr/>
            </a:pPr>
            <a:r>
              <a:rPr sz="1800" dirty="0">
                <a:solidFill>
                  <a:srgbClr val="313A56"/>
                </a:solidFill>
                <a:latin typeface="Trebuchet MS"/>
                <a:cs typeface="Trebuchet MS"/>
              </a:rPr>
              <a:t>Интеграция с каталогом, Яндекс 360 и ИБ-системами</a:t>
            </a:r>
          </a:p>
        </p:txBody>
      </p:sp>
      <p:sp>
        <p:nvSpPr>
          <p:cNvPr id="2" name="object 2"/>
          <p:cNvSpPr txBox="1"/>
          <p:nvPr/>
        </p:nvSpPr>
        <p:spPr>
          <a:xfrm>
            <a:off x="676757" y="5430418"/>
            <a:ext cx="22802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dirty="0">
                <a:solidFill>
                  <a:srgbClr val="313A56"/>
                </a:solidFill>
                <a:latin typeface="Trebuchet MS"/>
                <a:cs typeface="Trebuchet MS"/>
              </a:rPr>
              <a:t>Поддержка cloud, on-prem</a:t>
            </a:r>
          </a:p>
        </p:txBody>
      </p:sp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  <p:sp>
        <p:nvSpPr>
          <p:cNvPr id="18" name="object 18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endParaRPr/>
          </a:p>
        </p:txBody>
      </p:sp>
      <p:grpSp>
        <p:nvGrpSpPr>
          <p:cNvPr id="11" name="object 11"/>
          <p:cNvGrpSpPr/>
          <p:nvPr/>
        </p:nvGrpSpPr>
        <p:grpSpPr>
          <a:xfrm>
            <a:off x="1756342" y="6153126"/>
            <a:ext cx="469265" cy="228600"/>
            <a:chOff x="1756342" y="6153126"/>
            <a:chExt cx="469265" cy="228600"/>
          </a:xfrm>
        </p:grpSpPr>
        <p:pic>
          <p:nvPicPr>
            <p:cNvPr id="12" name="object 1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756342" y="6153126"/>
              <a:ext cx="228156" cy="228295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97001" y="6154668"/>
              <a:ext cx="228151" cy="225210"/>
            </a:xfrm>
            <a:prstGeom prst="rect">
              <a:avLst/>
            </a:prstGeom>
          </p:spPr>
        </p:pic>
      </p:grpSp>
      <p:pic>
        <p:nvPicPr>
          <p:cNvPr id="14" name="object 14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273675" y="6183976"/>
            <a:ext cx="809350" cy="204540"/>
          </a:xfrm>
          <a:prstGeom prst="rect">
            <a:avLst/>
          </a:prstGeom>
        </p:spPr>
      </p:pic>
      <p:sp>
        <p:nvSpPr>
          <p:cNvPr id="15" name="object 15"/>
          <p:cNvSpPr/>
          <p:nvPr/>
        </p:nvSpPr>
        <p:spPr>
          <a:xfrm>
            <a:off x="3194038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4263692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30303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313A56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678891" y="5433466"/>
            <a:ext cx="288544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200" dirty="0">
                <a:solidFill>
                  <a:srgbClr val="FFFFFF"/>
                </a:solidFill>
                <a:latin typeface="Trebuchet MS"/>
                <a:cs typeface="Trebuchet MS"/>
              </a:rPr>
              <a:t>FAQ и CTA: это не ещё один чат-бот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6371844" y="557783"/>
            <a:ext cx="5820410" cy="5832475"/>
            <a:chOff x="6371844" y="557783"/>
            <a:chExt cx="5820410" cy="5832475"/>
          </a:xfrm>
        </p:grpSpPr>
        <p:sp>
          <p:nvSpPr>
            <p:cNvPr id="4" name="object 4"/>
            <p:cNvSpPr/>
            <p:nvPr/>
          </p:nvSpPr>
          <p:spPr>
            <a:xfrm>
              <a:off x="6371844" y="557783"/>
              <a:ext cx="5820410" cy="5832475"/>
            </a:xfrm>
            <a:custGeom>
              <a:avLst/>
              <a:gdLst/>
              <a:ahLst/>
              <a:cxnLst/>
              <a:rect l="l" t="t" r="r" b="b"/>
              <a:pathLst>
                <a:path w="5820409" h="5832475">
                  <a:moveTo>
                    <a:pt x="5820156" y="0"/>
                  </a:moveTo>
                  <a:lnTo>
                    <a:pt x="372109" y="0"/>
                  </a:lnTo>
                  <a:lnTo>
                    <a:pt x="325438" y="2899"/>
                  </a:lnTo>
                  <a:lnTo>
                    <a:pt x="280494" y="11366"/>
                  </a:lnTo>
                  <a:lnTo>
                    <a:pt x="237629" y="25050"/>
                  </a:lnTo>
                  <a:lnTo>
                    <a:pt x="197190" y="43603"/>
                  </a:lnTo>
                  <a:lnTo>
                    <a:pt x="159526" y="66676"/>
                  </a:lnTo>
                  <a:lnTo>
                    <a:pt x="124986" y="93920"/>
                  </a:lnTo>
                  <a:lnTo>
                    <a:pt x="93920" y="124986"/>
                  </a:lnTo>
                  <a:lnTo>
                    <a:pt x="66676" y="159526"/>
                  </a:lnTo>
                  <a:lnTo>
                    <a:pt x="43603" y="197190"/>
                  </a:lnTo>
                  <a:lnTo>
                    <a:pt x="25050" y="237629"/>
                  </a:lnTo>
                  <a:lnTo>
                    <a:pt x="11366" y="280494"/>
                  </a:lnTo>
                  <a:lnTo>
                    <a:pt x="2899" y="325438"/>
                  </a:lnTo>
                  <a:lnTo>
                    <a:pt x="0" y="372110"/>
                  </a:lnTo>
                  <a:lnTo>
                    <a:pt x="0" y="5460238"/>
                  </a:lnTo>
                  <a:lnTo>
                    <a:pt x="2899" y="5506914"/>
                  </a:lnTo>
                  <a:lnTo>
                    <a:pt x="11366" y="5551861"/>
                  </a:lnTo>
                  <a:lnTo>
                    <a:pt x="25050" y="5594729"/>
                  </a:lnTo>
                  <a:lnTo>
                    <a:pt x="43603" y="5635169"/>
                  </a:lnTo>
                  <a:lnTo>
                    <a:pt x="66676" y="5672832"/>
                  </a:lnTo>
                  <a:lnTo>
                    <a:pt x="93920" y="5707371"/>
                  </a:lnTo>
                  <a:lnTo>
                    <a:pt x="124986" y="5738436"/>
                  </a:lnTo>
                  <a:lnTo>
                    <a:pt x="159526" y="5765678"/>
                  </a:lnTo>
                  <a:lnTo>
                    <a:pt x="197190" y="5788749"/>
                  </a:lnTo>
                  <a:lnTo>
                    <a:pt x="237629" y="5807300"/>
                  </a:lnTo>
                  <a:lnTo>
                    <a:pt x="280494" y="5820983"/>
                  </a:lnTo>
                  <a:lnTo>
                    <a:pt x="325438" y="5829448"/>
                  </a:lnTo>
                  <a:lnTo>
                    <a:pt x="372109" y="5832348"/>
                  </a:lnTo>
                  <a:lnTo>
                    <a:pt x="5820156" y="5832348"/>
                  </a:lnTo>
                  <a:lnTo>
                    <a:pt x="5820156" y="0"/>
                  </a:lnTo>
                  <a:close/>
                </a:path>
              </a:pathLst>
            </a:custGeom>
            <a:solidFill>
              <a:srgbClr val="DCE3E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6530340" y="708659"/>
              <a:ext cx="5661659" cy="5527548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929372" y="708659"/>
              <a:ext cx="4262628" cy="5527548"/>
            </a:xfrm>
            <a:prstGeom prst="rect">
              <a:avLst/>
            </a:prstGeom>
          </p:spPr>
        </p:pic>
      </p:grp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3271" tIns="231571" rIns="4464899" bIns="426137" rtlCol="0">
            <a:spAutoFit/>
          </a:bodyPr>
          <a:lstStyle/>
          <a:p>
            <a:pPr marL="197485">
              <a:lnSpc>
                <a:spcPct val="100000"/>
              </a:lnSpc>
              <a:spcBef>
                <a:spcPts val="100"/>
              </a:spcBef>
              <a:defRPr/>
            </a:pPr>
            <a:r>
              <a:rPr sz="3600" spc="-10" dirty="0">
                <a:solidFill>
                  <a:srgbClr val="F0F8FD"/>
                </a:solidFill>
              </a:rPr>
              <a:t>Мобильность</a:t>
            </a:r>
          </a:p>
        </p:txBody>
      </p:sp>
      <p:sp>
        <p:nvSpPr>
          <p:cNvPr id="10" name="object 10"/>
          <p:cNvSpPr/>
          <p:nvPr/>
        </p:nvSpPr>
        <p:spPr>
          <a:xfrm>
            <a:off x="715454" y="2218182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715454" y="2995422"/>
            <a:ext cx="133985" cy="118110"/>
          </a:xfrm>
          <a:custGeom>
            <a:avLst/>
            <a:gdLst/>
            <a:ahLst/>
            <a:cxnLst/>
            <a:rect l="l" t="t" r="r" b="b"/>
            <a:pathLst>
              <a:path w="133984" h="118110">
                <a:moveTo>
                  <a:pt x="0" y="53593"/>
                </a:moveTo>
                <a:lnTo>
                  <a:pt x="52997" y="117601"/>
                </a:lnTo>
                <a:lnTo>
                  <a:pt x="133921" y="0"/>
                </a:lnTo>
              </a:path>
            </a:pathLst>
          </a:custGeom>
          <a:ln w="29632">
            <a:solidFill>
              <a:srgbClr val="FF563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02283" y="2114835"/>
            <a:ext cx="3352165" cy="77724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 dirty="0">
                <a:solidFill>
                  <a:srgbClr val="F0F8FD"/>
                </a:solidFill>
                <a:latin typeface="Trebuchet MS"/>
                <a:cs typeface="Trebuchet MS"/>
              </a:rPr>
              <a:t>Мобильные сотрудники: отдельный рабочий</a:t>
            </a:r>
          </a:p>
        </p:txBody>
      </p:sp>
      <p:sp>
        <p:nvSpPr>
          <p:cNvPr id="22" name="object 12 — item 2"/>
          <p:cNvSpPr txBox="1"/>
          <p:nvPr/>
        </p:nvSpPr>
        <p:spPr>
          <a:xfrm>
            <a:off x="1002283" y="2892075"/>
            <a:ext cx="3352165" cy="777240"/>
          </a:xfrm>
          <a:prstGeom prst="rect">
            <a:avLst/>
          </a:prstGeom>
        </p:spPr>
        <p:txBody>
          <a:bodyPr vert="horz" wrap="square" lIns="0" tIns="12700" rIns="0" bIns="0" rtlCol="0" anchor="t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defRPr/>
            </a:pPr>
            <a:r>
              <a:rPr sz="1800" spc="55" dirty="0">
                <a:solidFill>
                  <a:srgbClr val="F0F8FD"/>
                </a:solidFill>
                <a:latin typeface="Trebuchet MS"/>
                <a:cs typeface="Trebuchet MS"/>
              </a:rPr>
              <a:t>Продуктивность: безопасные сценарии</a:t>
            </a:r>
          </a:p>
        </p:txBody>
      </p: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690372" y="6156959"/>
            <a:ext cx="859536" cy="224028"/>
          </a:xfrm>
          <a:prstGeom prst="rect">
            <a:avLst/>
          </a:prstGeom>
        </p:spPr>
      </p:pic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425"/>
              </a:lnSpc>
            </a:pPr>
            <a:endParaRPr/>
          </a:p>
        </p:txBody>
      </p:sp>
      <p:grpSp>
        <p:nvGrpSpPr>
          <p:cNvPr id="13" name="object 13"/>
          <p:cNvGrpSpPr/>
          <p:nvPr/>
        </p:nvGrpSpPr>
        <p:grpSpPr>
          <a:xfrm>
            <a:off x="1756342" y="6153126"/>
            <a:ext cx="469265" cy="228600"/>
            <a:chOff x="1756342" y="6153126"/>
            <a:chExt cx="469265" cy="228600"/>
          </a:xfrm>
        </p:grpSpPr>
        <p:pic>
          <p:nvPicPr>
            <p:cNvPr id="14" name="object 1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756342" y="6153126"/>
              <a:ext cx="228156" cy="228295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97001" y="6154668"/>
              <a:ext cx="228151" cy="225210"/>
            </a:xfrm>
            <a:prstGeom prst="rect">
              <a:avLst/>
            </a:prstGeom>
          </p:spPr>
        </p:pic>
      </p:grpSp>
      <p:sp>
        <p:nvSpPr>
          <p:cNvPr id="17" name="object 17"/>
          <p:cNvSpPr/>
          <p:nvPr/>
        </p:nvSpPr>
        <p:spPr>
          <a:xfrm>
            <a:off x="3194038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4263692" y="6146955"/>
            <a:ext cx="12700" cy="240665"/>
          </a:xfrm>
          <a:custGeom>
            <a:avLst/>
            <a:gdLst/>
            <a:ahLst/>
            <a:cxnLst/>
            <a:rect l="l" t="t" r="r" b="b"/>
            <a:pathLst>
              <a:path w="12700" h="240664">
                <a:moveTo>
                  <a:pt x="12501" y="0"/>
                </a:moveTo>
                <a:lnTo>
                  <a:pt x="0" y="0"/>
                </a:lnTo>
                <a:lnTo>
                  <a:pt x="0" y="240636"/>
                </a:lnTo>
                <a:lnTo>
                  <a:pt x="12501" y="240636"/>
                </a:lnTo>
                <a:lnTo>
                  <a:pt x="1250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Words>168</Words>
  <Application>Microsoft Office PowerPoint</Application>
  <PresentationFormat>Произвольный</PresentationFormat>
  <Paragraphs>52</Paragraphs>
  <Slides>10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1" baseType="lpstr">
      <vt:lpstr>Office Theme</vt:lpstr>
      <vt:lpstr>Управляемый доступ</vt:lpstr>
      <vt:lpstr>Теневой ИИ</vt:lpstr>
      <vt:lpstr>Решение: единый</vt:lpstr>
      <vt:lpstr>Ключевые угрозы</vt:lpstr>
      <vt:lpstr>Защитные функции шлюза</vt:lpstr>
      <vt:lpstr>Базовый функционал</vt:lpstr>
      <vt:lpstr>Защита данных</vt:lpstr>
      <vt:lpstr>События и расследов</vt:lpstr>
      <vt:lpstr>Управление моделями и администрирование</vt:lpstr>
      <vt:lpstr>Мобильность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Мария Журавлева</dc:creator>
  <cp:lastModifiedBy>User</cp:lastModifiedBy>
  <cp:revision>3</cp:revision>
  <dcterms:created xsi:type="dcterms:W3CDTF">2026-09-29T15:44:44Z</dcterms:created>
  <dcterms:modified xsi:type="dcterms:W3CDTF">2026-09-30T20:11:44Z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v10.0.20290.1</vt:lpwstr>
  </property>
  <property fmtid="{D5CDD505-2E9C-101B-9397-08002B2CF9AE}" pid="3" name="Created">
    <vt:filetime>2025-07-01T00:00:00Z</vt:filetime>
  </property>
  <property fmtid="{D5CDD505-2E9C-101B-9397-08002B2CF9AE}" pid="4" name="Creator">
    <vt:lpwstr>Microsoft® PowerPoint® LTSC</vt:lpwstr>
  </property>
  <property fmtid="{D5CDD505-2E9C-101B-9397-08002B2CF9AE}" pid="5" name="LastSaved">
    <vt:filetime>2026-09-29T00:00:00Z</vt:filetime>
  </property>
  <property fmtid="{D5CDD505-2E9C-101B-9397-08002B2CF9AE}" pid="6" name="Producer">
    <vt:lpwstr>Microsoft® PowerPoint® LTSC</vt:lpwstr>
  </property>
</Properties>
</file>